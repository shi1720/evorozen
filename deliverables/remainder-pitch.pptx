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3e4a495b744579" /><Relationship Type="http://schemas.openxmlformats.org/officeDocument/2006/relationships/extended-properties" Target="/docProps/app.xml" Id="R8639dd737b794743" /><Relationship Type="http://schemas.openxmlformats.org/officeDocument/2006/relationships/officeDocument" Target="/ppt/presentation.xml" Id="R19eecacea490413d" /></Relationships>
</file>

<file path=ppt/presentation.xml><?xml version="1.0" encoding="utf-8"?>
<p:presentation xmlns:p="http://schemas.openxmlformats.org/presentationml/2006/main">
  <p:sldMasterIdLst>
    <p:sldMasterId xmlns:r="http://schemas.openxmlformats.org/officeDocument/2006/relationships" id="2147483648" r:id="R0e9a6a853377450f"/>
  </p:sldMasterIdLst>
  <p:notesMasterIdLst>
    <p:notesMasterId xmlns:r="http://schemas.openxmlformats.org/officeDocument/2006/relationships" r:id="Rd31867199a504003"/>
  </p:notesMasterIdLst>
  <p:sldIdLst>
    <p:sldId xmlns:r="http://schemas.openxmlformats.org/officeDocument/2006/relationships" id="256" r:id="Rbf4976a0baeb4086"/>
    <p:sldId xmlns:r="http://schemas.openxmlformats.org/officeDocument/2006/relationships" id="257" r:id="Ref483a99cceb4ea8"/>
    <p:sldId xmlns:r="http://schemas.openxmlformats.org/officeDocument/2006/relationships" id="258" r:id="R4c8de23f91ba4483"/>
    <p:sldId xmlns:r="http://schemas.openxmlformats.org/officeDocument/2006/relationships" id="259" r:id="R891ce60c7b8b49ee"/>
    <p:sldId xmlns:r="http://schemas.openxmlformats.org/officeDocument/2006/relationships" id="260" r:id="R53589c0473974d69"/>
    <p:sldId xmlns:r="http://schemas.openxmlformats.org/officeDocument/2006/relationships" id="261" r:id="R499069fcbd584ebd"/>
    <p:sldId xmlns:r="http://schemas.openxmlformats.org/officeDocument/2006/relationships" id="262" r:id="Rad55a07690c54d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efb4e4ad3f49ec" /><Relationship Type="http://schemas.openxmlformats.org/officeDocument/2006/relationships/slideMaster" Target="/ppt/slideMasters/slideMaster1.xml" Id="R0e9a6a853377450f" /><Relationship Type="http://schemas.openxmlformats.org/officeDocument/2006/relationships/notesMaster" Target="/ppt/notesMasters/notesMaster1.xml" Id="Rd31867199a504003" /><Relationship Type="http://schemas.openxmlformats.org/officeDocument/2006/relationships/presProps" Target="/ppt/presProps.xml" Id="R609e09b7c73a485e" /><Relationship Type="http://schemas.openxmlformats.org/officeDocument/2006/relationships/tableStyles" Target="/ppt/tableStyles.xml" Id="R8f1e933b50154d1f" /><Relationship Type="http://schemas.openxmlformats.org/officeDocument/2006/relationships/slide" Target="/ppt/slides/slide1.xml" Id="Rbf4976a0baeb4086" /><Relationship Type="http://schemas.openxmlformats.org/officeDocument/2006/relationships/slide" Target="/ppt/slides/slide2.xml" Id="Ref483a99cceb4ea8" /><Relationship Type="http://schemas.openxmlformats.org/officeDocument/2006/relationships/slide" Target="/ppt/slides/slide3.xml" Id="R4c8de23f91ba4483" /><Relationship Type="http://schemas.openxmlformats.org/officeDocument/2006/relationships/slide" Target="/ppt/slides/slide4.xml" Id="R891ce60c7b8b49ee" /><Relationship Type="http://schemas.openxmlformats.org/officeDocument/2006/relationships/slide" Target="/ppt/slides/slide5.xml" Id="R53589c0473974d69" /><Relationship Type="http://schemas.openxmlformats.org/officeDocument/2006/relationships/slide" Target="/ppt/slides/slide6.xml" Id="R499069fcbd584ebd" /><Relationship Type="http://schemas.openxmlformats.org/officeDocument/2006/relationships/slide" Target="/ppt/slides/slide7.xml" Id="Rad55a07690c54d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5807c016664b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a0b52e4e00498c" /><Relationship Type="http://schemas.openxmlformats.org/officeDocument/2006/relationships/notesMaster" Target="/ppt/notesMasters/notesMaster1.xml" Id="R247664b547a54e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4a2cab524848ab" /><Relationship Type="http://schemas.openxmlformats.org/officeDocument/2006/relationships/notesMaster" Target="/ppt/notesMasters/notesMaster1.xml" Id="R7a81224025e349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1c4310cbbd4f98" /><Relationship Type="http://schemas.openxmlformats.org/officeDocument/2006/relationships/notesMaster" Target="/ppt/notesMasters/notesMaster1.xml" Id="Rad5afde56f914b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9b744945c34498" /><Relationship Type="http://schemas.openxmlformats.org/officeDocument/2006/relationships/notesMaster" Target="/ppt/notesMasters/notesMaster1.xml" Id="Rb8eb5a86a8de46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38f53a6b124263" /><Relationship Type="http://schemas.openxmlformats.org/officeDocument/2006/relationships/notesMaster" Target="/ppt/notesMasters/notesMaster1.xml" Id="Rbc51d414e6814a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5babac23254c2a" /><Relationship Type="http://schemas.openxmlformats.org/officeDocument/2006/relationships/notesMaster" Target="/ppt/notesMasters/notesMaster1.xml" Id="Re6134f6fbf8a41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aa7a51f8644a8c" /><Relationship Type="http://schemas.openxmlformats.org/officeDocument/2006/relationships/notesMaster" Target="/ppt/notesMasters/notesMaster1.xml" Id="R3ae9d05217224b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Created by Shivam Gupta with AI-assisted research, design, and engineering. This deck presents a deployed product and a commercial plan awaiting customer validation. Live app: https://remainder-desk.web.app on Firebase Hosting, Cloud Run, and Neon PostgreSQL. Public source: https://github.com/shi1720/evorozen . Hosted workflow evidence: docs/validation/firebase-browser-workflow.json. The final narrated film uses actual OpenAI calls in a normal account with fictional documents; see docs/validation-video.md. No real customer traction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hypothesis to validate with design partners. It is not a customer interview quote. Source context: Xero documents applying supplier credits separately from other credit transactions: https://central.xero.com/s/article/Apply-a-supplier-s-credit-to-a-bill . Research and competitor analysis: docs/research.md.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data from the reproducible Fern &amp; Flour fixture, not customer results. Northstar invoice NF-1042: 12 oat cases invoiced, 8 received, at $36 gives $144 shortage. 10 tomato cases invoiced, 7 received, at $24 gives $72 shortage. Four olive-oil tins received as invoiced gives zero shortage. Total claim $216. Credit CN-208 references NF-1042 and credits $144 oat drink. Remaining $72. Chart source values: credit-note verified 144 and outstanding 72, USD. Accounting application and cash receipt remain separate, unverified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docs/architecture.md. Validation: docs/validation-ai.md and docs/validation-video.md. OpenAI gpt-5.4-mini passed six fixed synthetic evaluation cases with no missed expected findings or wrong supported amounts, plus USD 216/144/72 and independent GBP 63.55/18.75/44.80 integration checks on 23 September 2026. One overdelivery produced an unnecessary blocked review card. These are bounded integration checks, not a general accuracy claim or customer traction. The narrated film follows a normal account through an initial real OpenAI request, approval of a $216 claim, upload of a $144 credit note, and a second real OpenAI request showing $72 outstanding. An independent five-request live check of the optional Evorozen memory module verified a signed alias write, HMAC-validated recall, scoped deletion and absent recall afterward. Sponsor memory was disabled in the film to keep its separate evidence clear. The Evorozen inference adapter remains implemented; sponsor inference was unavailable during testing. Application code owns authorization, arithmetic, workflow state, and tenant-specific supplier aliases.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Positioning hypothesis, not a claim of exclusivity or proven superiority. Supply Verify already captures delivery notes, detects shortages and issues credit requests: https://www.supplyverify.ai/en/ . Supy provides hospitality invoice matching and broader procurement workflows: https://supy.io/product-features/invoice-receiving . Canals reconciles statements against ERP records: https://www.canals.ai/products/distributor-statement-reconciiation . Remainder differentiates through focused review and partial-credit follow-through for independent operators; validate with actual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and allowance are proposed, not verified willingness to pay or implemented subscription billing. Unit-economics sensitivities and exclusions are in docs/go-to-market.md. Production inference uses OpenAI gpt-5.4-mini. Measure actual input and output tokens, retries, hosting, support time, and optional Evorozen memory traffic before offering a fixed allowance. Application request caps bound usage; they are not a live provider balance. The optional sponsor integration has separate verified memory behavior, but no verified production paid tariff. Existing sponsor-call sensitivity tables are scenario planning, not measured OpenAI cost. Start with a small guided pilot and an agreed request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design partners is a recruitment target, not existing users or commitments. Seven-day launch plan and outreach drafts: docs/go-to-market.md. Creator: Shivam Gupta, with AI-assisted engineering. Repository: https://github.com/shi1720/evorozen . The live app is deployed on Firebase Hosting with Cloud Run and Neon PostgreSQL. No customer outcomes or paid revenue have been established in this deck. Click the app CTA to open https://remainder-desk.web.app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ae831b71cc4f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c3d80252a14e0f" /><Relationship Type="http://schemas.openxmlformats.org/officeDocument/2006/relationships/slideLayout" Target="/ppt/slideLayouts/slideLayout1.xml" Id="R0fae2191276647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e2191276647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f18a867a44034215"/><Relationship Type="http://schemas.openxmlformats.org/officeDocument/2006/relationships/notesSlide" Target="/ppt/notesSlides/notesSlide1.xml" Id="R08a8fcae478240da"/><Relationship Id="rIdRemainderLink1" Type="http://schemas.openxmlformats.org/officeDocument/2006/relationships/hyperlink" Target="https://remainder-desk.web.app"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7e23fe368046e3" /><Relationship Type="http://schemas.openxmlformats.org/officeDocument/2006/relationships/notesSlide" Target="/ppt/notesSlides/notesSlide2.xml" Id="Rfb0776e0288445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17243dca5d4ccc" /><Relationship Type="http://schemas.openxmlformats.org/officeDocument/2006/relationships/chart" Target="/ppt/slides/charts/chart1.xml" Id="R87a73e4338e74647" /><Relationship Type="http://schemas.openxmlformats.org/officeDocument/2006/relationships/notesSlide" Target="/ppt/notesSlides/notesSlide3.xml" Id="R59696dfec0624a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bbef68c47849fd" /><Relationship Type="http://schemas.openxmlformats.org/officeDocument/2006/relationships/notesSlide" Target="/ppt/notesSlides/notesSlide4.xml" Id="R6a6fb595c6a547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313886811d471e" /><Relationship Type="http://schemas.openxmlformats.org/officeDocument/2006/relationships/notesSlide" Target="/ppt/notesSlides/notesSlide5.xml" Id="Ra8e616740b2043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3b9a85007646a0" /><Relationship Type="http://schemas.openxmlformats.org/officeDocument/2006/relationships/notesSlide" Target="/ppt/notesSlides/notesSlide6.xml" Id="R54f2ee23e8be4f39" /></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2ada9b54f594686"/><Relationship Type="http://schemas.openxmlformats.org/officeDocument/2006/relationships/notesSlide" Target="/ppt/notesSlides/notesSlide7.xml" Id="R146617c532444092"/><Relationship Id="rIdRemainderLink2" Type="http://schemas.openxmlformats.org/officeDocument/2006/relationships/hyperlink" Target="https://remainder-desk.web.app" TargetMode="External"/><Relationship Id="rIdRemainderLink3" Type="http://schemas.openxmlformats.org/officeDocument/2006/relationships/hyperlink" Target="https://github.com/shi1720/evorozen" TargetMode="Externa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Credit note verified</c:v>
          </c:tx>
          <c:spPr>
            <a:solidFill xmlns:a="http://schemas.openxmlformats.org/drawingml/2006/main">
              <a:srgbClr val="194D3B"/>
            </a:solidFill>
          </c:spPr>
          <c:cat>
            <c:strRef>
              <c:f>'Chart Data'!$A$2:$A$2</c:f>
              <c:strCache>
                <c:ptCount val="1"/>
                <c:pt idx="0">
                  <c:v>NF-1042</c:v>
                </c:pt>
              </c:strCache>
            </c:strRef>
          </c:cat>
          <c:val>
            <c:numRef>
              <c:f>'Chart Data'!$B$2:$B$2</c:f>
              <c:numCache>
                <c:formatCode>$0</c:formatCode>
                <c:ptCount val="1"/>
                <c:pt idx="0">
                  <c:v>144</c:v>
                </c:pt>
              </c:numCache>
            </c:numRef>
          </c:val>
        </c:ser>
        <c:ser>
          <c:idx val="1"/>
          <c:order val="1"/>
          <c:tx>
            <c:v>Still outstanding</c:v>
          </c:tx>
          <c:spPr>
            <a:solidFill xmlns:a="http://schemas.openxmlformats.org/drawingml/2006/main">
              <a:srgbClr val="BA7B42"/>
            </a:solidFill>
          </c:spPr>
          <c:cat>
            <c:strRef>
              <c:f>'Chart Data'!$C$2:$C$2</c:f>
              <c:strCache>
                <c:ptCount val="1"/>
                <c:pt idx="0">
                  <c:v>NF-1042</c:v>
                </c:pt>
              </c:strCache>
            </c:strRef>
          </c:cat>
          <c:val>
            <c:numRef>
              <c:f>'Chart Data'!$D$2:$D$2</c:f>
              <c:numCache>
                <c:formatCode>$0</c:formatCode>
                <c:ptCount val="1"/>
                <c:pt idx="0">
                  <c:v>72</c:v>
                </c:pt>
              </c:numCache>
            </c:numRef>
          </c:val>
        </c:ser>
        <c:dLbls>
          <c:txPr>
            <a:bodyPr xmlns:a="http://schemas.openxmlformats.org/drawingml/2006/main" anchorCtr="1"/>
            <a:lstStyle xmlns:a="http://schemas.openxmlformats.org/drawingml/2006/main"/>
            <a:p xmlns:a="http://schemas.openxmlformats.org/drawingml/2006/main">
              <a:pPr>
                <a:defRPr sz="255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30"/>
        <c:overlap val="100"/>
        <c:axId val="48650112"/>
        <c:axId val="48672768"/>
      </c:barChart>
      <c:catAx>
        <c:axId val="48650112"/>
        <c:scaling>
          <c:orientation val="minMax"/>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216"/>
          <c:min val="0"/>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7F8F5"/>
        </a:solidFill>
        <a:ln xmlns:a="http://schemas.openxmlformats.org/drawingml/2006/main" w="0">
          <a:noFill/>
        </a:ln>
      </c:spPr>
    </c:plotArea>
    <c:plotVisOnly val="1"/>
  </c:chart>
  <c:spPr>
    <a:solidFill xmlns:a="http://schemas.openxmlformats.org/drawingml/2006/main">
      <a:srgbClr val="F7F8F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94D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1AF251-7C71-438B-BF62-9A6095AD1AF8}"/>
              </a:ext>
            </a:extLst>
          </p:cNvPr>
          <p:cNvSpPr>
            <a:spLocks xmlns:a="http://schemas.openxmlformats.org/drawingml/2006/main" noGrp="1"/>
          </p:cNvSpPr>
          <p:nvPr/>
        </p:nvSpPr>
        <p:spPr>
          <a:xfrm xmlns:a="http://schemas.openxmlformats.org/drawingml/2006/main">
            <a:off x="762000" y="2000250"/>
            <a:ext cx="10572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400">
                <a:solidFill>
                  <a:srgbClr val="F7F8F5"/>
                </a:solidFill>
                <a:latin typeface="Georgia"/>
                <a:ea typeface="Georgia"/>
                <a:cs typeface="Georgia"/>
              </a:defRPr>
            </a:pPr>
            <a:r>
              <a:rPr sz="8400">
                <a:solidFill>
                  <a:srgbClr val="F7F8F5"/>
                </a:solidFill>
                <a:latin typeface="Georgia"/>
                <a:ea typeface="Georgia"/>
                <a:cs typeface="Georgia"/>
              </a:rPr>
              <a:t>Remainder</a:t>
            </a:r>
          </a:p>
        </p:txBody>
      </p:sp>
      <p:sp>
        <p:nvSpPr>
          <p:cNvPr id="2" name="">
            <a:extLst xmlns:a="http://schemas.openxmlformats.org/drawingml/2006/main">
              <a:ext uri="{FF2B5EF4-FFF2-40B4-BE49-F238E27FC236}">
                <a16:creationId xmlns:a16="http://schemas.microsoft.com/office/drawing/2014/main" id="{C092C705-EB9D-432A-AA3D-DC43A69CDC6A}"/>
              </a:ext>
            </a:extLst>
          </p:cNvPr>
          <p:cNvSpPr>
            <a:spLocks xmlns:a="http://schemas.openxmlformats.org/drawingml/2006/main" noGrp="1"/>
          </p:cNvSpPr>
          <p:nvPr/>
        </p:nvSpPr>
        <p:spPr>
          <a:xfrm xmlns:a="http://schemas.openxmlformats.org/drawingml/2006/main">
            <a:off x="838200" y="3667125"/>
            <a:ext cx="8286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D9EBDF"/>
                </a:solidFill>
                <a:latin typeface="Arial"/>
                <a:ea typeface="Arial"/>
                <a:cs typeface="Arial"/>
              </a:defRPr>
            </a:pPr>
            <a:r>
              <a:rPr sz="2700">
                <a:solidFill>
                  <a:srgbClr val="D9EBDF"/>
                </a:solidFill>
                <a:latin typeface="Arial"/>
                <a:ea typeface="Arial"/>
                <a:cs typeface="Arial"/>
              </a:rPr>
              <a:t>A supplier-credit desk for</a:t>
            </a:r>
          </a:p>
          <a:p xmlns:a="http://schemas.openxmlformats.org/drawingml/2006/main">
            <a:pPr>
              <a:defRPr sz="2700">
                <a:solidFill>
                  <a:srgbClr val="D9EBDF"/>
                </a:solidFill>
                <a:latin typeface="Arial"/>
                <a:ea typeface="Arial"/>
                <a:cs typeface="Arial"/>
              </a:defRPr>
            </a:pPr>
            <a:r>
              <a:rPr sz="2700">
                <a:solidFill>
                  <a:srgbClr val="D9EBDF"/>
                </a:solidFill>
                <a:latin typeface="Arial"/>
                <a:ea typeface="Arial"/>
                <a:cs typeface="Arial"/>
              </a:rPr>
              <a:t>independent food businesses</a:t>
            </a:r>
          </a:p>
        </p:txBody>
      </p:sp>
      <p:sp>
        <p:nvSpPr>
          <p:cNvPr id="3" name="">
            <a:extLst xmlns:a="http://schemas.openxmlformats.org/drawingml/2006/main">
              <a:ext uri="{FF2B5EF4-FFF2-40B4-BE49-F238E27FC236}">
                <a16:creationId xmlns:a16="http://schemas.microsoft.com/office/drawing/2014/main" id="{2436CC46-3384-46D5-97CC-4B7023A9D6B4}"/>
              </a:ext>
            </a:extLst>
            <ns0:hlinkClick xmlns:ns0="http://schemas.openxmlformats.org/drawingml/2006/main" xmlns:ns1="http://schemas.openxmlformats.org/officeDocument/2006/relationships" ns1:id="rIdRemainderLink1"/>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D9EBDF"/>
                </a:solidFill>
                <a:latin typeface="Arial"/>
                <a:ea typeface="Arial"/>
                <a:cs typeface="Arial"/>
              </a:defRPr>
            </a:pPr>
            <a:r>
              <a:rPr sz="1275">
                <a:solidFill>
                  <a:srgbClr val="D9EBDF"/>
                </a:solidFill>
                <a:latin typeface="Arial"/>
                <a:ea typeface="Arial"/>
                <a:cs typeface="Arial"/>
              </a:rPr>
              <a:t>Shivam Gupta / remainder-desk.web.app</a:t>
            </a:r>
          </a:p>
        </p:txBody>
      </p:sp>
      <p:sp>
        <p:nvSpPr>
          <p:cNvPr id="4" name="">
            <a:extLst xmlns:a="http://schemas.openxmlformats.org/drawingml/2006/main">
              <a:ext uri="{FF2B5EF4-FFF2-40B4-BE49-F238E27FC236}">
                <a16:creationId xmlns:a16="http://schemas.microsoft.com/office/drawing/2014/main" id="{C5481118-994A-4048-9766-8F729BCA8D13}"/>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D9EBDF"/>
                </a:solidFill>
                <a:latin typeface="Arial"/>
                <a:ea typeface="Arial"/>
                <a:cs typeface="Arial"/>
              </a:defRPr>
            </a:pPr>
            <a:r>
              <a:rPr sz="1275">
                <a:solidFill>
                  <a:srgbClr val="D9EBDF"/>
                </a:solidFill>
                <a:latin typeface="Arial"/>
                <a:ea typeface="Arial"/>
                <a:cs typeface="Arial"/>
              </a:rPr>
              <a:t>01</a:t>
            </a:r>
          </a:p>
        </p:txBody>
      </p:sp>
    </p:spTree>
    <p:extLst>
      <p:ext uri="{BB962C8B-B14F-4D97-AF65-F5344CB8AC3E}">
        <p14:creationId xmlns:p14="http://schemas.microsoft.com/office/powerpoint/2010/main" val="837206148"/>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590C64-F2B4-4021-80FE-C34453CB2213}"/>
              </a:ext>
            </a:extLst>
          </p:cNvPr>
          <p:cNvSpPr>
            <a:spLocks xmlns:a="http://schemas.openxmlformats.org/drawingml/2006/main" noGrp="1"/>
          </p:cNvSpPr>
          <p:nvPr/>
        </p:nvSpPr>
        <p:spPr>
          <a:xfrm xmlns:a="http://schemas.openxmlformats.org/drawingml/2006/main">
            <a:off x="762000" y="71437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a:solidFill>
                  <a:srgbClr val="203A30"/>
                </a:solidFill>
                <a:latin typeface="Georgia"/>
                <a:ea typeface="Georgia"/>
                <a:cs typeface="Georgia"/>
              </a:defRPr>
            </a:pPr>
            <a:r>
              <a:rPr sz="4200">
                <a:solidFill>
                  <a:srgbClr val="203A30"/>
                </a:solidFill>
                <a:latin typeface="Georgia"/>
                <a:ea typeface="Georgia"/>
                <a:cs typeface="Georgia"/>
              </a:rPr>
              <a:t>The supplier-credit gap</a:t>
            </a:r>
          </a:p>
        </p:txBody>
      </p:sp>
      <p:sp>
        <p:nvSpPr>
          <p:cNvPr id="2" name="">
            <a:extLst xmlns:a="http://schemas.openxmlformats.org/drawingml/2006/main">
              <a:ext uri="{FF2B5EF4-FFF2-40B4-BE49-F238E27FC236}">
                <a16:creationId xmlns:a16="http://schemas.microsoft.com/office/drawing/2014/main" id="{A123D678-26BF-4859-9540-F331EC5BC227}"/>
              </a:ext>
            </a:extLst>
          </p:cNvPr>
          <p:cNvSpPr>
            <a:spLocks xmlns:a="http://schemas.openxmlformats.org/drawingml/2006/main" noGrp="1"/>
          </p:cNvSpPr>
          <p:nvPr/>
        </p:nvSpPr>
        <p:spPr>
          <a:xfrm xmlns:a="http://schemas.openxmlformats.org/drawingml/2006/main">
            <a:off x="762000" y="214312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a:solidFill>
                  <a:srgbClr val="194D3B"/>
                </a:solidFill>
                <a:latin typeface="Georgia"/>
                <a:ea typeface="Georgia"/>
                <a:cs typeface="Georgia"/>
              </a:defRPr>
            </a:pPr>
            <a:r>
              <a:rPr sz="5700">
                <a:solidFill>
                  <a:srgbClr val="194D3B"/>
                </a:solidFill>
                <a:latin typeface="Georgia"/>
                <a:ea typeface="Georgia"/>
                <a:cs typeface="Georgia"/>
              </a:rPr>
              <a:t>“We’ll credit you.”</a:t>
            </a:r>
          </a:p>
        </p:txBody>
      </p:sp>
      <p:sp>
        <p:nvSpPr>
          <p:cNvPr id="3" name="">
            <a:extLst xmlns:a="http://schemas.openxmlformats.org/drawingml/2006/main">
              <a:ext uri="{FF2B5EF4-FFF2-40B4-BE49-F238E27FC236}">
                <a16:creationId xmlns:a16="http://schemas.microsoft.com/office/drawing/2014/main" id="{5F396733-33E4-45F6-9BE4-5188C51AAC35}"/>
              </a:ext>
            </a:extLst>
          </p:cNvPr>
          <p:cNvSpPr>
            <a:spLocks xmlns:a="http://schemas.openxmlformats.org/drawingml/2006/main" noGrp="1"/>
          </p:cNvSpPr>
          <p:nvPr/>
        </p:nvSpPr>
        <p:spPr>
          <a:xfrm xmlns:a="http://schemas.openxmlformats.org/drawingml/2006/main">
            <a:off x="800100" y="37623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03A30"/>
                </a:solidFill>
                <a:latin typeface="Arial"/>
                <a:ea typeface="Arial"/>
                <a:cs typeface="Arial"/>
              </a:defRPr>
            </a:pPr>
            <a:r>
              <a:rPr sz="2100">
                <a:solidFill>
                  <a:srgbClr val="203A30"/>
                </a:solidFill>
                <a:latin typeface="Arial"/>
                <a:ea typeface="Arial"/>
                <a:cs typeface="Arial"/>
              </a:rPr>
              <a:t>The invoice records the charge.</a:t>
            </a:r>
          </a:p>
          <a:p xmlns:a="http://schemas.openxmlformats.org/drawingml/2006/main">
            <a:pPr>
              <a:defRPr sz="2100">
                <a:solidFill>
                  <a:srgbClr val="203A30"/>
                </a:solidFill>
                <a:latin typeface="Arial"/>
                <a:ea typeface="Arial"/>
                <a:cs typeface="Arial"/>
              </a:defRPr>
            </a:pPr>
            <a:r>
              <a:rPr sz="2100">
                <a:solidFill>
                  <a:srgbClr val="203A30"/>
                </a:solidFill>
                <a:latin typeface="Arial"/>
                <a:ea typeface="Arial"/>
                <a:cs typeface="Arial"/>
              </a:rPr>
              <a:t>The delivery note records the shortage.</a:t>
            </a:r>
          </a:p>
        </p:txBody>
      </p:sp>
      <p:sp>
        <p:nvSpPr>
          <p:cNvPr id="4" name="">
            <a:extLst xmlns:a="http://schemas.openxmlformats.org/drawingml/2006/main">
              <a:ext uri="{FF2B5EF4-FFF2-40B4-BE49-F238E27FC236}">
                <a16:creationId xmlns:a16="http://schemas.microsoft.com/office/drawing/2014/main" id="{4AD5A051-8A16-430E-8334-2B9A0DAF0F08}"/>
              </a:ext>
            </a:extLst>
          </p:cNvPr>
          <p:cNvSpPr>
            <a:spLocks xmlns:a="http://schemas.openxmlformats.org/drawingml/2006/main" noGrp="1"/>
          </p:cNvSpPr>
          <p:nvPr/>
        </p:nvSpPr>
        <p:spPr>
          <a:xfrm xmlns:a="http://schemas.openxmlformats.org/drawingml/2006/main">
            <a:off x="6524625" y="3762375"/>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03A30"/>
                </a:solidFill>
                <a:latin typeface="Arial"/>
                <a:ea typeface="Arial"/>
                <a:cs typeface="Arial"/>
              </a:defRPr>
            </a:pPr>
            <a:r>
              <a:rPr sz="2100">
                <a:solidFill>
                  <a:srgbClr val="203A30"/>
                </a:solidFill>
                <a:latin typeface="Arial"/>
                <a:ea typeface="Arial"/>
                <a:cs typeface="Arial"/>
              </a:rPr>
              <a:t>The credit arrives later.</a:t>
            </a:r>
          </a:p>
          <a:p xmlns:a="http://schemas.openxmlformats.org/drawingml/2006/main">
            <a:pPr>
              <a:defRPr sz="2100">
                <a:solidFill>
                  <a:srgbClr val="203A30"/>
                </a:solidFill>
                <a:latin typeface="Arial"/>
                <a:ea typeface="Arial"/>
                <a:cs typeface="Arial"/>
              </a:defRPr>
            </a:pPr>
            <a:r>
              <a:rPr sz="2100">
                <a:solidFill>
                  <a:srgbClr val="203A30"/>
                </a:solidFill>
                <a:latin typeface="Arial"/>
                <a:ea typeface="Arial"/>
                <a:cs typeface="Arial"/>
              </a:rPr>
              <a:t>Someone still has to check the remainder.</a:t>
            </a:r>
          </a:p>
        </p:txBody>
      </p:sp>
      <p:sp>
        <p:nvSpPr>
          <p:cNvPr id="5" name="">
            <a:extLst xmlns:a="http://schemas.openxmlformats.org/drawingml/2006/main">
              <a:ext uri="{FF2B5EF4-FFF2-40B4-BE49-F238E27FC236}">
                <a16:creationId xmlns:a16="http://schemas.microsoft.com/office/drawing/2014/main" id="{52AF150C-4687-4117-A452-5777C33966AD}"/>
              </a:ext>
            </a:extLst>
          </p:cNvPr>
          <p:cNvSpPr>
            <a:spLocks xmlns:a="http://schemas.openxmlformats.org/drawingml/2006/main" noGrp="1"/>
          </p:cNvSpPr>
          <p:nvPr/>
        </p:nvSpPr>
        <p:spPr>
          <a:xfrm xmlns:a="http://schemas.openxmlformats.org/drawingml/2006/main">
            <a:off x="800100" y="54006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a:solidFill>
                  <a:srgbClr val="63766C"/>
                </a:solidFill>
                <a:latin typeface="Arial"/>
                <a:ea typeface="Arial"/>
                <a:cs typeface="Arial"/>
              </a:defRPr>
            </a:pPr>
            <a:r>
              <a:rPr sz="1875">
                <a:solidFill>
                  <a:srgbClr val="63766C"/>
                </a:solidFill>
                <a:latin typeface="Arial"/>
                <a:ea typeface="Arial"/>
                <a:cs typeface="Arial"/>
              </a:rPr>
              <a:t>A focused job for the owner or bookkeeper of an independent cafe.</a:t>
            </a:r>
          </a:p>
        </p:txBody>
      </p:sp>
      <p:sp>
        <p:nvSpPr>
          <p:cNvPr id="6" name="">
            <a:extLst xmlns:a="http://schemas.openxmlformats.org/drawingml/2006/main">
              <a:ext uri="{FF2B5EF4-FFF2-40B4-BE49-F238E27FC236}">
                <a16:creationId xmlns:a16="http://schemas.microsoft.com/office/drawing/2014/main" id="{D84EA4FC-80C6-4BFD-B423-66208A63C785}"/>
              </a:ext>
            </a:extLst>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3766C"/>
                </a:solidFill>
                <a:latin typeface="Arial"/>
                <a:ea typeface="Arial"/>
                <a:cs typeface="Arial"/>
              </a:defRPr>
            </a:pPr>
            <a:r>
              <a:rPr sz="1275">
                <a:solidFill>
                  <a:srgbClr val="63766C"/>
                </a:solidFill>
                <a:latin typeface="Arial"/>
                <a:ea typeface="Arial"/>
                <a:cs typeface="Arial"/>
              </a:rPr>
              <a:t>Remainder / Shivam Gupta</a:t>
            </a:r>
          </a:p>
        </p:txBody>
      </p:sp>
      <p:sp>
        <p:nvSpPr>
          <p:cNvPr id="7" name="">
            <a:extLst xmlns:a="http://schemas.openxmlformats.org/drawingml/2006/main">
              <a:ext uri="{FF2B5EF4-FFF2-40B4-BE49-F238E27FC236}">
                <a16:creationId xmlns:a16="http://schemas.microsoft.com/office/drawing/2014/main" id="{1A4BB272-2721-4DC5-A15B-DDB2EEC57CFA}"/>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3766C"/>
                </a:solidFill>
                <a:latin typeface="Arial"/>
                <a:ea typeface="Arial"/>
                <a:cs typeface="Arial"/>
              </a:defRPr>
            </a:pPr>
            <a:r>
              <a:rPr sz="1275">
                <a:solidFill>
                  <a:srgbClr val="63766C"/>
                </a:solidFill>
                <a:latin typeface="Arial"/>
                <a:ea typeface="Arial"/>
                <a:cs typeface="Arial"/>
              </a:rPr>
              <a:t>02</a:t>
            </a:r>
          </a:p>
        </p:txBody>
      </p:sp>
    </p:spTree>
    <p:extLst>
      <p:ext uri="{BB962C8B-B14F-4D97-AF65-F5344CB8AC3E}">
        <p14:creationId xmlns:p14="http://schemas.microsoft.com/office/powerpoint/2010/main" val="1057381220"/>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4FF07D-5C1E-410D-825C-02C2C5BD1523}"/>
              </a:ext>
            </a:extLst>
          </p:cNvPr>
          <p:cNvSpPr>
            <a:spLocks xmlns:a="http://schemas.openxmlformats.org/drawingml/2006/main" noGrp="1"/>
          </p:cNvSpPr>
          <p:nvPr/>
        </p:nvSpPr>
        <p:spPr>
          <a:xfrm xmlns:a="http://schemas.openxmlformats.org/drawingml/2006/main">
            <a:off x="762000" y="71437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a:solidFill>
                  <a:srgbClr val="203A30"/>
                </a:solidFill>
                <a:latin typeface="Georgia"/>
                <a:ea typeface="Georgia"/>
                <a:cs typeface="Georgia"/>
              </a:defRPr>
            </a:pPr>
            <a:r>
              <a:rPr sz="4200">
                <a:solidFill>
                  <a:srgbClr val="203A30"/>
                </a:solidFill>
                <a:latin typeface="Georgia"/>
                <a:ea typeface="Georgia"/>
                <a:cs typeface="Georgia"/>
              </a:rPr>
              <a:t>A $72 remainder stays visible</a:t>
            </a:r>
          </a:p>
        </p:txBody>
      </p:sp>
      <p:sp>
        <p:nvSpPr>
          <p:cNvPr id="2" name="">
            <a:extLst xmlns:a="http://schemas.openxmlformats.org/drawingml/2006/main">
              <a:ext uri="{FF2B5EF4-FFF2-40B4-BE49-F238E27FC236}">
                <a16:creationId xmlns:a16="http://schemas.microsoft.com/office/drawing/2014/main" id="{893457DD-170F-4A8C-AF55-EC482A1761CC}"/>
              </a:ext>
            </a:extLst>
          </p:cNvPr>
          <p:cNvSpPr>
            <a:spLocks xmlns:a="http://schemas.openxmlformats.org/drawingml/2006/main" noGrp="1"/>
          </p:cNvSpPr>
          <p:nvPr/>
        </p:nvSpPr>
        <p:spPr>
          <a:xfrm xmlns:a="http://schemas.openxmlformats.org/drawingml/2006/main">
            <a:off x="762000" y="19812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a:solidFill>
                  <a:srgbClr val="194D3B"/>
                </a:solidFill>
                <a:latin typeface="Georgia"/>
                <a:ea typeface="Georgia"/>
                <a:cs typeface="Georgia"/>
              </a:defRPr>
            </a:pPr>
            <a:r>
              <a:rPr sz="6300">
                <a:solidFill>
                  <a:srgbClr val="194D3B"/>
                </a:solidFill>
                <a:latin typeface="Georgia"/>
                <a:ea typeface="Georgia"/>
                <a:cs typeface="Georgia"/>
              </a:rPr>
              <a:t>$216</a:t>
            </a:r>
          </a:p>
        </p:txBody>
      </p:sp>
      <p:sp>
        <p:nvSpPr>
          <p:cNvPr id="3" name="">
            <a:extLst xmlns:a="http://schemas.openxmlformats.org/drawingml/2006/main">
              <a:ext uri="{FF2B5EF4-FFF2-40B4-BE49-F238E27FC236}">
                <a16:creationId xmlns:a16="http://schemas.microsoft.com/office/drawing/2014/main" id="{AAED7AB2-A023-4F7E-9A9B-7E74CD0C68DF}"/>
              </a:ext>
            </a:extLst>
          </p:cNvPr>
          <p:cNvSpPr>
            <a:spLocks xmlns:a="http://schemas.openxmlformats.org/drawingml/2006/main" noGrp="1"/>
          </p:cNvSpPr>
          <p:nvPr/>
        </p:nvSpPr>
        <p:spPr>
          <a:xfrm xmlns:a="http://schemas.openxmlformats.org/drawingml/2006/main">
            <a:off x="800100" y="30384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203A30"/>
                </a:solidFill>
                <a:latin typeface="Arial"/>
                <a:ea typeface="Arial"/>
                <a:cs typeface="Arial"/>
              </a:defRPr>
            </a:pPr>
            <a:r>
              <a:rPr sz="2100">
                <a:solidFill>
                  <a:srgbClr val="203A30"/>
                </a:solidFill>
                <a:latin typeface="Arial"/>
                <a:ea typeface="Arial"/>
                <a:cs typeface="Arial"/>
              </a:rPr>
              <a:t>reviewed shortage claim</a:t>
            </a:r>
          </a:p>
        </p:txBody>
      </p:sp>
      <p:graphicFrame>
        <p:nvGraphicFramePr>
          <p:cNvPr id="12" name="Chart"/>
          <p:cNvGraphicFramePr/>
          <p:nvPr/>
        </p:nvGraphicFramePr>
        <p:xfrm>
          <a:off xmlns:a="http://schemas.openxmlformats.org/drawingml/2006/main" x="762000" y="3714750"/>
          <a:ext xmlns:a="http://schemas.openxmlformats.org/drawingml/2006/main" cx="10668000" cy="1143000"/>
        </p:xfrm>
        <a:graphic xmlns:a="http://schemas.openxmlformats.org/drawingml/2006/main">
          <a:graphicData uri="http://schemas.openxmlformats.org/drawingml/2006/chart">
            <c:chart xmlns:r="http://schemas.openxmlformats.org/officeDocument/2006/relationships" xmlns:c="http://schemas.openxmlformats.org/drawingml/2006/chart" r:id="R87a73e4338e74647"/>
          </a:graphicData>
        </a:graphic>
      </p:graphicFrame>
      <p:sp>
        <p:nvSpPr>
          <p:cNvPr id="5" name="">
            <a:extLst xmlns:a="http://schemas.openxmlformats.org/drawingml/2006/main">
              <a:ext uri="{FF2B5EF4-FFF2-40B4-BE49-F238E27FC236}">
                <a16:creationId xmlns:a16="http://schemas.microsoft.com/office/drawing/2014/main" id="{AA76B98B-B6AC-4705-B571-F501A7DB271D}"/>
              </a:ext>
            </a:extLst>
          </p:cNvPr>
          <p:cNvSpPr>
            <a:spLocks xmlns:a="http://schemas.openxmlformats.org/drawingml/2006/main" noGrp="1"/>
          </p:cNvSpPr>
          <p:nvPr/>
        </p:nvSpPr>
        <p:spPr>
          <a:xfrm xmlns:a="http://schemas.openxmlformats.org/drawingml/2006/main">
            <a:off x="800100" y="5010150"/>
            <a:ext cx="690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194D3B"/>
                </a:solidFill>
                <a:latin typeface="Arial"/>
                <a:ea typeface="Arial"/>
                <a:cs typeface="Arial"/>
              </a:defRPr>
            </a:pPr>
            <a:r>
              <a:rPr sz="2175">
                <a:solidFill>
                  <a:srgbClr val="194D3B"/>
                </a:solidFill>
                <a:latin typeface="Arial"/>
                <a:ea typeface="Arial"/>
                <a:cs typeface="Arial"/>
              </a:rPr>
              <a:t>$144 credit note verified</a:t>
            </a:r>
          </a:p>
        </p:txBody>
      </p:sp>
      <p:sp>
        <p:nvSpPr>
          <p:cNvPr id="6" name="">
            <a:extLst xmlns:a="http://schemas.openxmlformats.org/drawingml/2006/main">
              <a:ext uri="{FF2B5EF4-FFF2-40B4-BE49-F238E27FC236}">
                <a16:creationId xmlns:a16="http://schemas.microsoft.com/office/drawing/2014/main" id="{3C244FD7-2C2D-4809-A906-43B2E41C3A4A}"/>
              </a:ext>
            </a:extLst>
          </p:cNvPr>
          <p:cNvSpPr>
            <a:spLocks xmlns:a="http://schemas.openxmlformats.org/drawingml/2006/main" noGrp="1"/>
          </p:cNvSpPr>
          <p:nvPr/>
        </p:nvSpPr>
        <p:spPr>
          <a:xfrm xmlns:a="http://schemas.openxmlformats.org/drawingml/2006/main">
            <a:off x="8020050" y="50101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BA7B42"/>
                </a:solidFill>
                <a:latin typeface="Arial"/>
                <a:ea typeface="Arial"/>
                <a:cs typeface="Arial"/>
              </a:defRPr>
            </a:pPr>
            <a:r>
              <a:rPr sz="2175">
                <a:solidFill>
                  <a:srgbClr val="BA7B42"/>
                </a:solidFill>
                <a:latin typeface="Arial"/>
                <a:ea typeface="Arial"/>
                <a:cs typeface="Arial"/>
              </a:rPr>
              <a:t>$72 still outstanding</a:t>
            </a:r>
          </a:p>
        </p:txBody>
      </p:sp>
      <p:sp>
        <p:nvSpPr>
          <p:cNvPr id="7" name="">
            <a:extLst xmlns:a="http://schemas.openxmlformats.org/drawingml/2006/main">
              <a:ext uri="{FF2B5EF4-FFF2-40B4-BE49-F238E27FC236}">
                <a16:creationId xmlns:a16="http://schemas.microsoft.com/office/drawing/2014/main" id="{782C98B6-65FC-49AE-A77F-F157B4697422}"/>
              </a:ext>
            </a:extLst>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3766C"/>
                </a:solidFill>
                <a:latin typeface="Arial"/>
                <a:ea typeface="Arial"/>
                <a:cs typeface="Arial"/>
              </a:defRPr>
            </a:pPr>
            <a:r>
              <a:rPr sz="1275">
                <a:solidFill>
                  <a:srgbClr val="63766C"/>
                </a:solidFill>
                <a:latin typeface="Arial"/>
                <a:ea typeface="Arial"/>
                <a:cs typeface="Arial"/>
              </a:rPr>
              <a:t>Fictional USD example. Credit-note evidence does not establish cash received.</a:t>
            </a:r>
          </a:p>
        </p:txBody>
      </p:sp>
      <p:sp>
        <p:nvSpPr>
          <p:cNvPr id="8" name="">
            <a:extLst xmlns:a="http://schemas.openxmlformats.org/drawingml/2006/main">
              <a:ext uri="{FF2B5EF4-FFF2-40B4-BE49-F238E27FC236}">
                <a16:creationId xmlns:a16="http://schemas.microsoft.com/office/drawing/2014/main" id="{40506FDD-FF49-40D8-9E2B-0D8CF0E6F4DA}"/>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3766C"/>
                </a:solidFill>
                <a:latin typeface="Arial"/>
                <a:ea typeface="Arial"/>
                <a:cs typeface="Arial"/>
              </a:defRPr>
            </a:pPr>
            <a:r>
              <a:rPr sz="1275">
                <a:solidFill>
                  <a:srgbClr val="63766C"/>
                </a:solidFill>
                <a:latin typeface="Arial"/>
                <a:ea typeface="Arial"/>
                <a:cs typeface="Arial"/>
              </a:rPr>
              <a:t>03</a:t>
            </a:r>
          </a:p>
        </p:txBody>
      </p:sp>
    </p:spTree>
    <p:extLst>
      <p:ext uri="{BB962C8B-B14F-4D97-AF65-F5344CB8AC3E}">
        <p14:creationId xmlns:p14="http://schemas.microsoft.com/office/powerpoint/2010/main" val="821472891"/>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35182B4-BD47-4162-8E74-0291F2F32A33}"/>
              </a:ext>
            </a:extLst>
          </p:cNvPr>
          <p:cNvSpPr>
            <a:spLocks xmlns:a="http://schemas.openxmlformats.org/drawingml/2006/main" noGrp="1"/>
          </p:cNvSpPr>
          <p:nvPr/>
        </p:nvSpPr>
        <p:spPr>
          <a:xfrm xmlns:a="http://schemas.openxmlformats.org/drawingml/2006/main">
            <a:off x="762000" y="71437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a:solidFill>
                  <a:srgbClr val="203A30"/>
                </a:solidFill>
                <a:latin typeface="Georgia"/>
                <a:ea typeface="Georgia"/>
                <a:cs typeface="Georgia"/>
              </a:defRPr>
            </a:pPr>
            <a:r>
              <a:rPr sz="4200">
                <a:solidFill>
                  <a:srgbClr val="203A30"/>
                </a:solidFill>
                <a:latin typeface="Georgia"/>
                <a:ea typeface="Georgia"/>
                <a:cs typeface="Georgia"/>
              </a:rPr>
              <a:t>Every amount has a source</a:t>
            </a:r>
          </a:p>
        </p:txBody>
      </p:sp>
      <p:sp>
        <p:nvSpPr>
          <p:cNvPr id="2" name="">
            <a:extLst xmlns:a="http://schemas.openxmlformats.org/drawingml/2006/main">
              <a:ext uri="{FF2B5EF4-FFF2-40B4-BE49-F238E27FC236}">
                <a16:creationId xmlns:a16="http://schemas.microsoft.com/office/drawing/2014/main" id="{3F140D26-7D61-4A4D-A812-4F08F8684F29}"/>
              </a:ext>
            </a:extLst>
          </p:cNvPr>
          <p:cNvSpPr>
            <a:spLocks xmlns:a="http://schemas.openxmlformats.org/drawingml/2006/main" noGrp="1"/>
          </p:cNvSpPr>
          <p:nvPr/>
        </p:nvSpPr>
        <p:spPr>
          <a:xfrm xmlns:a="http://schemas.openxmlformats.org/drawingml/2006/main">
            <a:off x="762000" y="23241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94D3B"/>
                </a:solidFill>
                <a:latin typeface="Arial"/>
                <a:ea typeface="Arial"/>
                <a:cs typeface="Arial"/>
              </a:defRPr>
            </a:pPr>
            <a:r>
              <a:rPr sz="2175" b="1">
                <a:solidFill>
                  <a:srgbClr val="194D3B"/>
                </a:solidFill>
                <a:latin typeface="Arial"/>
                <a:ea typeface="Arial"/>
                <a:cs typeface="Arial"/>
              </a:rPr>
              <a:t>AI interpretation</a:t>
            </a:r>
          </a:p>
        </p:txBody>
      </p:sp>
      <p:sp>
        <p:nvSpPr>
          <p:cNvPr id="3" name="">
            <a:extLst xmlns:a="http://schemas.openxmlformats.org/drawingml/2006/main">
              <a:ext uri="{FF2B5EF4-FFF2-40B4-BE49-F238E27FC236}">
                <a16:creationId xmlns:a16="http://schemas.microsoft.com/office/drawing/2014/main" id="{EEB24636-D73F-485C-85D6-FCC688F85E0A}"/>
              </a:ext>
            </a:extLst>
          </p:cNvPr>
          <p:cNvSpPr>
            <a:spLocks xmlns:a="http://schemas.openxmlformats.org/drawingml/2006/main" noGrp="1"/>
          </p:cNvSpPr>
          <p:nvPr/>
        </p:nvSpPr>
        <p:spPr>
          <a:xfrm xmlns:a="http://schemas.openxmlformats.org/drawingml/2006/main">
            <a:off x="4810125" y="2324100"/>
            <a:ext cx="657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03A30"/>
                </a:solidFill>
                <a:latin typeface="Arial"/>
                <a:ea typeface="Arial"/>
                <a:cs typeface="Arial"/>
              </a:defRPr>
            </a:pPr>
            <a:r>
              <a:rPr sz="2025">
                <a:solidFill>
                  <a:srgbClr val="203A30"/>
                </a:solidFill>
                <a:latin typeface="Arial"/>
                <a:ea typeface="Arial"/>
                <a:cs typeface="Arial"/>
              </a:rPr>
              <a:t>OpenAI gpt-5.4-mini proposes line items.</a:t>
            </a:r>
          </a:p>
          <a:p xmlns:a="http://schemas.openxmlformats.org/drawingml/2006/main">
            <a:pPr>
              <a:defRPr sz="2025">
                <a:solidFill>
                  <a:srgbClr val="203A30"/>
                </a:solidFill>
                <a:latin typeface="Arial"/>
                <a:ea typeface="Arial"/>
                <a:cs typeface="Arial"/>
              </a:defRPr>
            </a:pPr>
            <a:r>
              <a:rPr sz="2025">
                <a:solidFill>
                  <a:srgbClr val="203A30"/>
                </a:solidFill>
                <a:latin typeface="Arial"/>
                <a:ea typeface="Arial"/>
                <a:cs typeface="Arial"/>
              </a:rPr>
              <a:t>The film shows two real AI requests.</a:t>
            </a:r>
          </a:p>
        </p:txBody>
      </p:sp>
      <p:sp>
        <p:nvSpPr>
          <p:cNvPr id="4" name="">
            <a:extLst xmlns:a="http://schemas.openxmlformats.org/drawingml/2006/main">
              <a:ext uri="{FF2B5EF4-FFF2-40B4-BE49-F238E27FC236}">
                <a16:creationId xmlns:a16="http://schemas.microsoft.com/office/drawing/2014/main" id="{E57C9731-FA73-40FC-8D59-15C77B5029A9}"/>
              </a:ext>
            </a:extLst>
          </p:cNvPr>
          <p:cNvSpPr>
            <a:spLocks xmlns:a="http://schemas.openxmlformats.org/drawingml/2006/main" noGrp="1"/>
          </p:cNvSpPr>
          <p:nvPr/>
        </p:nvSpPr>
        <p:spPr>
          <a:xfrm xmlns:a="http://schemas.openxmlformats.org/drawingml/2006/main">
            <a:off x="762000" y="35052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94D3B"/>
                </a:solidFill>
                <a:latin typeface="Arial"/>
                <a:ea typeface="Arial"/>
                <a:cs typeface="Arial"/>
              </a:defRPr>
            </a:pPr>
            <a:r>
              <a:rPr sz="2175" b="1">
                <a:solidFill>
                  <a:srgbClr val="194D3B"/>
                </a:solidFill>
                <a:latin typeface="Arial"/>
                <a:ea typeface="Arial"/>
                <a:cs typeface="Arial"/>
              </a:rPr>
              <a:t>Human review</a:t>
            </a:r>
          </a:p>
        </p:txBody>
      </p:sp>
      <p:sp>
        <p:nvSpPr>
          <p:cNvPr id="5" name="">
            <a:extLst xmlns:a="http://schemas.openxmlformats.org/drawingml/2006/main">
              <a:ext uri="{FF2B5EF4-FFF2-40B4-BE49-F238E27FC236}">
                <a16:creationId xmlns:a16="http://schemas.microsoft.com/office/drawing/2014/main" id="{B8E809B1-E865-4B4A-9B99-84C1DDF4955F}"/>
              </a:ext>
            </a:extLst>
          </p:cNvPr>
          <p:cNvSpPr>
            <a:spLocks xmlns:a="http://schemas.openxmlformats.org/drawingml/2006/main" noGrp="1"/>
          </p:cNvSpPr>
          <p:nvPr/>
        </p:nvSpPr>
        <p:spPr>
          <a:xfrm xmlns:a="http://schemas.openxmlformats.org/drawingml/2006/main">
            <a:off x="4810125" y="3505200"/>
            <a:ext cx="657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03A30"/>
                </a:solidFill>
                <a:latin typeface="Arial"/>
                <a:ea typeface="Arial"/>
                <a:cs typeface="Arial"/>
              </a:defRPr>
            </a:pPr>
            <a:r>
              <a:rPr sz="2025">
                <a:solidFill>
                  <a:srgbClr val="203A30"/>
                </a:solidFill>
                <a:latin typeface="Arial"/>
                <a:ea typeface="Arial"/>
                <a:cs typeface="Arial"/>
              </a:rPr>
              <a:t>The owner checks source quotations.</a:t>
            </a:r>
          </a:p>
          <a:p xmlns:a="http://schemas.openxmlformats.org/drawingml/2006/main">
            <a:pPr>
              <a:defRPr sz="2025">
                <a:solidFill>
                  <a:srgbClr val="203A30"/>
                </a:solidFill>
                <a:latin typeface="Arial"/>
                <a:ea typeface="Arial"/>
                <a:cs typeface="Arial"/>
              </a:defRPr>
            </a:pPr>
            <a:r>
              <a:rPr sz="2025">
                <a:solidFill>
                  <a:srgbClr val="203A30"/>
                </a:solidFill>
                <a:latin typeface="Arial"/>
                <a:ea typeface="Arial"/>
                <a:cs typeface="Arial"/>
              </a:rPr>
              <a:t>Optional signed Evorozen aliases aid recall.</a:t>
            </a:r>
          </a:p>
        </p:txBody>
      </p:sp>
      <p:sp>
        <p:nvSpPr>
          <p:cNvPr id="6" name="">
            <a:extLst xmlns:a="http://schemas.openxmlformats.org/drawingml/2006/main">
              <a:ext uri="{FF2B5EF4-FFF2-40B4-BE49-F238E27FC236}">
                <a16:creationId xmlns:a16="http://schemas.microsoft.com/office/drawing/2014/main" id="{23BF618B-4045-4AC7-96E5-0F669184A0E7}"/>
              </a:ext>
            </a:extLst>
          </p:cNvPr>
          <p:cNvSpPr>
            <a:spLocks xmlns:a="http://schemas.openxmlformats.org/drawingml/2006/main" noGrp="1"/>
          </p:cNvSpPr>
          <p:nvPr/>
        </p:nvSpPr>
        <p:spPr>
          <a:xfrm xmlns:a="http://schemas.openxmlformats.org/drawingml/2006/main">
            <a:off x="762000" y="46863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94D3B"/>
                </a:solidFill>
                <a:latin typeface="Arial"/>
                <a:ea typeface="Arial"/>
                <a:cs typeface="Arial"/>
              </a:defRPr>
            </a:pPr>
            <a:r>
              <a:rPr sz="2175" b="1">
                <a:solidFill>
                  <a:srgbClr val="194D3B"/>
                </a:solidFill>
                <a:latin typeface="Arial"/>
                <a:ea typeface="Arial"/>
                <a:cs typeface="Arial"/>
              </a:rPr>
              <a:t>Deterministic checks</a:t>
            </a:r>
          </a:p>
        </p:txBody>
      </p:sp>
      <p:sp>
        <p:nvSpPr>
          <p:cNvPr id="7" name="">
            <a:extLst xmlns:a="http://schemas.openxmlformats.org/drawingml/2006/main">
              <a:ext uri="{FF2B5EF4-FFF2-40B4-BE49-F238E27FC236}">
                <a16:creationId xmlns:a16="http://schemas.microsoft.com/office/drawing/2014/main" id="{643F59B0-071D-4F2D-968E-AB632ECFC104}"/>
              </a:ext>
            </a:extLst>
          </p:cNvPr>
          <p:cNvSpPr>
            <a:spLocks xmlns:a="http://schemas.openxmlformats.org/drawingml/2006/main" noGrp="1"/>
          </p:cNvSpPr>
          <p:nvPr/>
        </p:nvSpPr>
        <p:spPr>
          <a:xfrm xmlns:a="http://schemas.openxmlformats.org/drawingml/2006/main">
            <a:off x="4810125" y="4686300"/>
            <a:ext cx="657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203A30"/>
                </a:solidFill>
                <a:latin typeface="Arial"/>
                <a:ea typeface="Arial"/>
                <a:cs typeface="Arial"/>
              </a:defRPr>
            </a:pPr>
            <a:r>
              <a:rPr sz="2025">
                <a:solidFill>
                  <a:srgbClr val="203A30"/>
                </a:solidFill>
                <a:latin typeface="Arial"/>
                <a:ea typeface="Arial"/>
                <a:cs typeface="Arial"/>
              </a:rPr>
              <a:t>Integer-cent arithmetic and duplicate controls</a:t>
            </a:r>
          </a:p>
          <a:p xmlns:a="http://schemas.openxmlformats.org/drawingml/2006/main">
            <a:pPr>
              <a:defRPr sz="2025">
                <a:solidFill>
                  <a:srgbClr val="203A30"/>
                </a:solidFill>
                <a:latin typeface="Arial"/>
                <a:ea typeface="Arial"/>
                <a:cs typeface="Arial"/>
              </a:defRPr>
            </a:pPr>
            <a:r>
              <a:rPr sz="2025">
                <a:solidFill>
                  <a:srgbClr val="203A30"/>
                </a:solidFill>
                <a:latin typeface="Arial"/>
                <a:ea typeface="Arial"/>
                <a:cs typeface="Arial"/>
              </a:rPr>
              <a:t>keep the credit balance consistent.</a:t>
            </a:r>
          </a:p>
        </p:txBody>
      </p:sp>
      <p:sp>
        <p:nvSpPr>
          <p:cNvPr id="8" name="">
            <a:extLst xmlns:a="http://schemas.openxmlformats.org/drawingml/2006/main">
              <a:ext uri="{FF2B5EF4-FFF2-40B4-BE49-F238E27FC236}">
                <a16:creationId xmlns:a16="http://schemas.microsoft.com/office/drawing/2014/main" id="{377739A2-6EB8-4A60-98DA-368CF4221EB5}"/>
              </a:ext>
            </a:extLst>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3766C"/>
                </a:solidFill>
                <a:latin typeface="Arial"/>
                <a:ea typeface="Arial"/>
                <a:cs typeface="Arial"/>
              </a:defRPr>
            </a:pPr>
            <a:r>
              <a:rPr sz="1275">
                <a:solidFill>
                  <a:srgbClr val="63766C"/>
                </a:solidFill>
                <a:latin typeface="Arial"/>
                <a:ea typeface="Arial"/>
                <a:cs typeface="Arial"/>
              </a:rPr>
              <a:t>Six fixed synthetic model cases passed. Optional Evorozen memory verified separately.</a:t>
            </a:r>
          </a:p>
        </p:txBody>
      </p:sp>
      <p:sp>
        <p:nvSpPr>
          <p:cNvPr id="9" name="">
            <a:extLst xmlns:a="http://schemas.openxmlformats.org/drawingml/2006/main">
              <a:ext uri="{FF2B5EF4-FFF2-40B4-BE49-F238E27FC236}">
                <a16:creationId xmlns:a16="http://schemas.microsoft.com/office/drawing/2014/main" id="{9009A49A-4ECD-4888-8A2B-66B88CC61746}"/>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3766C"/>
                </a:solidFill>
                <a:latin typeface="Arial"/>
                <a:ea typeface="Arial"/>
                <a:cs typeface="Arial"/>
              </a:defRPr>
            </a:pPr>
            <a:r>
              <a:rPr sz="1275">
                <a:solidFill>
                  <a:srgbClr val="63766C"/>
                </a:solidFill>
                <a:latin typeface="Arial"/>
                <a:ea typeface="Arial"/>
                <a:cs typeface="Arial"/>
              </a:rPr>
              <a:t>04</a:t>
            </a:r>
          </a:p>
        </p:txBody>
      </p:sp>
    </p:spTree>
    <p:extLst>
      <p:ext uri="{BB962C8B-B14F-4D97-AF65-F5344CB8AC3E}">
        <p14:creationId xmlns:p14="http://schemas.microsoft.com/office/powerpoint/2010/main" val="241637635"/>
      </p:ext>
    </p:extLst>
  </p:cSld>
</p:sld>
</file>

<file path=ppt/slides/slide5.xml><?xml version="1.0" encoding="utf-8"?>
<p:sld xmlns:p="http://schemas.openxmlformats.org/presentationml/2006/main">
  <p:cSld>
    <p:bg>
      <p:bgPr>
        <a:solidFill xmlns:a="http://schemas.openxmlformats.org/drawingml/2006/main">
          <a:srgbClr val="D9EBD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1FB76D-F50C-43C1-A264-8BD3C8D7BAC4}"/>
              </a:ext>
            </a:extLst>
          </p:cNvPr>
          <p:cNvSpPr>
            <a:spLocks xmlns:a="http://schemas.openxmlformats.org/drawingml/2006/main" noGrp="1"/>
          </p:cNvSpPr>
          <p:nvPr/>
        </p:nvSpPr>
        <p:spPr>
          <a:xfrm xmlns:a="http://schemas.openxmlformats.org/drawingml/2006/main">
            <a:off x="762000" y="71437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a:solidFill>
                  <a:srgbClr val="203A30"/>
                </a:solidFill>
                <a:latin typeface="Georgia"/>
                <a:ea typeface="Georgia"/>
                <a:cs typeface="Georgia"/>
              </a:defRPr>
            </a:pPr>
            <a:r>
              <a:rPr sz="4200">
                <a:solidFill>
                  <a:srgbClr val="203A30"/>
                </a:solidFill>
                <a:latin typeface="Georgia"/>
                <a:ea typeface="Georgia"/>
                <a:cs typeface="Georgia"/>
              </a:rPr>
              <a:t>A small desk beside the bookkeeper</a:t>
            </a:r>
          </a:p>
        </p:txBody>
      </p:sp>
      <p:sp>
        <p:nvSpPr>
          <p:cNvPr id="2" name="">
            <a:extLst xmlns:a="http://schemas.openxmlformats.org/drawingml/2006/main">
              <a:ext uri="{FF2B5EF4-FFF2-40B4-BE49-F238E27FC236}">
                <a16:creationId xmlns:a16="http://schemas.microsoft.com/office/drawing/2014/main" id="{59ABF471-C4B3-4132-B95E-185C4E2F8D11}"/>
              </a:ext>
            </a:extLst>
          </p:cNvPr>
          <p:cNvSpPr>
            <a:spLocks xmlns:a="http://schemas.openxmlformats.org/drawingml/2006/main" noGrp="1"/>
          </p:cNvSpPr>
          <p:nvPr/>
        </p:nvSpPr>
        <p:spPr>
          <a:xfrm xmlns:a="http://schemas.openxmlformats.org/drawingml/2006/main">
            <a:off x="762000" y="2247900"/>
            <a:ext cx="10525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a:solidFill>
                  <a:srgbClr val="194D3B"/>
                </a:solidFill>
                <a:latin typeface="Georgia"/>
                <a:ea typeface="Georgia"/>
                <a:cs typeface="Georgia"/>
              </a:defRPr>
            </a:pPr>
            <a:r>
              <a:rPr sz="3000">
                <a:solidFill>
                  <a:srgbClr val="194D3B"/>
                </a:solidFill>
                <a:latin typeface="Georgia"/>
                <a:ea typeface="Georgia"/>
                <a:cs typeface="Georgia"/>
              </a:rPr>
              <a:t>Independent cafes, restaurants,</a:t>
            </a:r>
          </a:p>
          <a:p xmlns:a="http://schemas.openxmlformats.org/drawingml/2006/main">
            <a:pPr>
              <a:defRPr sz="3000">
                <a:solidFill>
                  <a:srgbClr val="194D3B"/>
                </a:solidFill>
                <a:latin typeface="Georgia"/>
                <a:ea typeface="Georgia"/>
                <a:cs typeface="Georgia"/>
              </a:defRPr>
            </a:pPr>
            <a:r>
              <a:rPr sz="3000">
                <a:solidFill>
                  <a:srgbClr val="194D3B"/>
                </a:solidFill>
                <a:latin typeface="Georgia"/>
                <a:ea typeface="Georgia"/>
                <a:cs typeface="Georgia"/>
              </a:rPr>
              <a:t>and small food retailers</a:t>
            </a:r>
          </a:p>
        </p:txBody>
      </p:sp>
      <p:sp>
        <p:nvSpPr>
          <p:cNvPr id="3" name="">
            <a:extLst xmlns:a="http://schemas.openxmlformats.org/drawingml/2006/main">
              <a:ext uri="{FF2B5EF4-FFF2-40B4-BE49-F238E27FC236}">
                <a16:creationId xmlns:a16="http://schemas.microsoft.com/office/drawing/2014/main" id="{86F77A3C-E2DC-41CE-A55B-FABE61C59CE2}"/>
              </a:ext>
            </a:extLst>
          </p:cNvPr>
          <p:cNvSpPr>
            <a:spLocks xmlns:a="http://schemas.openxmlformats.org/drawingml/2006/main" noGrp="1"/>
          </p:cNvSpPr>
          <p:nvPr/>
        </p:nvSpPr>
        <p:spPr>
          <a:xfrm xmlns:a="http://schemas.openxmlformats.org/drawingml/2006/main">
            <a:off x="781050" y="3619500"/>
            <a:ext cx="6715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03A30"/>
                </a:solidFill>
                <a:latin typeface="Arial"/>
                <a:ea typeface="Arial"/>
                <a:cs typeface="Arial"/>
              </a:defRPr>
            </a:pPr>
            <a:r>
              <a:rPr sz="2175">
                <a:solidFill>
                  <a:srgbClr val="203A30"/>
                </a:solidFill>
                <a:latin typeface="Arial"/>
                <a:ea typeface="Arial"/>
                <a:cs typeface="Arial"/>
              </a:rPr>
              <a:t>A case begins with existing documents.</a:t>
            </a:r>
          </a:p>
          <a:p xmlns:a="http://schemas.openxmlformats.org/drawingml/2006/main">
            <a:pPr>
              <a:defRPr sz="2175">
                <a:solidFill>
                  <a:srgbClr val="203A30"/>
                </a:solidFill>
                <a:latin typeface="Arial"/>
                <a:ea typeface="Arial"/>
                <a:cs typeface="Arial"/>
              </a:defRPr>
            </a:pPr>
            <a:r>
              <a:rPr sz="2175">
                <a:solidFill>
                  <a:srgbClr val="203A30"/>
                </a:solidFill>
                <a:latin typeface="Arial"/>
                <a:ea typeface="Arial"/>
                <a:cs typeface="Arial"/>
              </a:rPr>
              <a:t>It ends with a reviewed claim, credit evidence,</a:t>
            </a:r>
          </a:p>
          <a:p xmlns:a="http://schemas.openxmlformats.org/drawingml/2006/main">
            <a:pPr>
              <a:defRPr sz="2175">
                <a:solidFill>
                  <a:srgbClr val="203A30"/>
                </a:solidFill>
                <a:latin typeface="Arial"/>
                <a:ea typeface="Arial"/>
                <a:cs typeface="Arial"/>
              </a:defRPr>
            </a:pPr>
            <a:r>
              <a:rPr sz="2175">
                <a:solidFill>
                  <a:srgbClr val="203A30"/>
                </a:solidFill>
                <a:latin typeface="Arial"/>
                <a:ea typeface="Arial"/>
                <a:cs typeface="Arial"/>
              </a:rPr>
              <a:t>and a record of what remains open.</a:t>
            </a:r>
          </a:p>
        </p:txBody>
      </p:sp>
      <p:sp>
        <p:nvSpPr>
          <p:cNvPr id="4" name="">
            <a:extLst xmlns:a="http://schemas.openxmlformats.org/drawingml/2006/main">
              <a:ext uri="{FF2B5EF4-FFF2-40B4-BE49-F238E27FC236}">
                <a16:creationId xmlns:a16="http://schemas.microsoft.com/office/drawing/2014/main" id="{4ABA52AF-FD60-4675-8C7E-665E580DA223}"/>
              </a:ext>
            </a:extLst>
          </p:cNvPr>
          <p:cNvSpPr>
            <a:spLocks xmlns:a="http://schemas.openxmlformats.org/drawingml/2006/main" noGrp="1"/>
          </p:cNvSpPr>
          <p:nvPr/>
        </p:nvSpPr>
        <p:spPr>
          <a:xfrm xmlns:a="http://schemas.openxmlformats.org/drawingml/2006/main">
            <a:off x="8905875" y="3676650"/>
            <a:ext cx="257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94D3B"/>
                </a:solidFill>
                <a:latin typeface="Arial"/>
                <a:ea typeface="Arial"/>
                <a:cs typeface="Arial"/>
              </a:defRPr>
            </a:pPr>
            <a:r>
              <a:rPr sz="2100" b="1">
                <a:solidFill>
                  <a:srgbClr val="194D3B"/>
                </a:solidFill>
                <a:latin typeface="Arial"/>
                <a:ea typeface="Arial"/>
                <a:cs typeface="Arial"/>
              </a:rPr>
              <a:t>No ERP connection</a:t>
            </a:r>
          </a:p>
          <a:p xmlns:a="http://schemas.openxmlformats.org/drawingml/2006/main">
            <a:pPr>
              <a:defRPr sz="2100" b="1">
                <a:solidFill>
                  <a:srgbClr val="194D3B"/>
                </a:solidFill>
                <a:latin typeface="Arial"/>
                <a:ea typeface="Arial"/>
                <a:cs typeface="Arial"/>
              </a:defRPr>
            </a:pPr>
            <a:r>
              <a:rPr sz="2100" b="1">
                <a:solidFill>
                  <a:srgbClr val="194D3B"/>
                </a:solidFill>
                <a:latin typeface="Arial"/>
                <a:ea typeface="Arial"/>
                <a:cs typeface="Arial"/>
              </a:rPr>
              <a:t>required for the</a:t>
            </a:r>
          </a:p>
          <a:p xmlns:a="http://schemas.openxmlformats.org/drawingml/2006/main">
            <a:pPr>
              <a:defRPr sz="2100" b="1">
                <a:solidFill>
                  <a:srgbClr val="194D3B"/>
                </a:solidFill>
                <a:latin typeface="Arial"/>
                <a:ea typeface="Arial"/>
                <a:cs typeface="Arial"/>
              </a:defRPr>
            </a:pPr>
            <a:r>
              <a:rPr sz="2100" b="1">
                <a:solidFill>
                  <a:srgbClr val="194D3B"/>
                </a:solidFill>
                <a:latin typeface="Arial"/>
                <a:ea typeface="Arial"/>
                <a:cs typeface="Arial"/>
              </a:rPr>
              <a:t>core workflow.</a:t>
            </a:r>
          </a:p>
        </p:txBody>
      </p:sp>
      <p:sp>
        <p:nvSpPr>
          <p:cNvPr id="5" name="">
            <a:extLst xmlns:a="http://schemas.openxmlformats.org/drawingml/2006/main">
              <a:ext uri="{FF2B5EF4-FFF2-40B4-BE49-F238E27FC236}">
                <a16:creationId xmlns:a16="http://schemas.microsoft.com/office/drawing/2014/main" id="{5B16744C-A1DC-4C40-843A-8C84262CB328}"/>
              </a:ext>
            </a:extLst>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3766C"/>
                </a:solidFill>
                <a:latin typeface="Arial"/>
                <a:ea typeface="Arial"/>
                <a:cs typeface="Arial"/>
              </a:defRPr>
            </a:pPr>
            <a:r>
              <a:rPr sz="1275">
                <a:solidFill>
                  <a:srgbClr val="63766C"/>
                </a:solidFill>
                <a:latin typeface="Arial"/>
                <a:ea typeface="Arial"/>
                <a:cs typeface="Arial"/>
              </a:rPr>
              <a:t>Existing alternatives: Supply Verify, Supy, Canals, accounting tools, and spreadsheets.</a:t>
            </a:r>
          </a:p>
        </p:txBody>
      </p:sp>
      <p:sp>
        <p:nvSpPr>
          <p:cNvPr id="6" name="">
            <a:extLst xmlns:a="http://schemas.openxmlformats.org/drawingml/2006/main">
              <a:ext uri="{FF2B5EF4-FFF2-40B4-BE49-F238E27FC236}">
                <a16:creationId xmlns:a16="http://schemas.microsoft.com/office/drawing/2014/main" id="{2EE98926-11A9-40B0-A815-279F506B3FF2}"/>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3766C"/>
                </a:solidFill>
                <a:latin typeface="Arial"/>
                <a:ea typeface="Arial"/>
                <a:cs typeface="Arial"/>
              </a:defRPr>
            </a:pPr>
            <a:r>
              <a:rPr sz="1275">
                <a:solidFill>
                  <a:srgbClr val="63766C"/>
                </a:solidFill>
                <a:latin typeface="Arial"/>
                <a:ea typeface="Arial"/>
                <a:cs typeface="Arial"/>
              </a:rPr>
              <a:t>05</a:t>
            </a:r>
          </a:p>
        </p:txBody>
      </p:sp>
    </p:spTree>
    <p:extLst>
      <p:ext uri="{BB962C8B-B14F-4D97-AF65-F5344CB8AC3E}">
        <p14:creationId xmlns:p14="http://schemas.microsoft.com/office/powerpoint/2010/main" val="100084096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912351-BB8C-4006-9510-5E62106FA3D3}"/>
              </a:ext>
            </a:extLst>
          </p:cNvPr>
          <p:cNvSpPr>
            <a:spLocks xmlns:a="http://schemas.openxmlformats.org/drawingml/2006/main" noGrp="1"/>
          </p:cNvSpPr>
          <p:nvPr/>
        </p:nvSpPr>
        <p:spPr>
          <a:xfrm xmlns:a="http://schemas.openxmlformats.org/drawingml/2006/main">
            <a:off x="762000" y="71437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a:solidFill>
                  <a:srgbClr val="203A30"/>
                </a:solidFill>
                <a:latin typeface="Georgia"/>
                <a:ea typeface="Georgia"/>
                <a:cs typeface="Georgia"/>
              </a:defRPr>
            </a:pPr>
            <a:r>
              <a:rPr sz="4200">
                <a:solidFill>
                  <a:srgbClr val="203A30"/>
                </a:solidFill>
                <a:latin typeface="Georgia"/>
                <a:ea typeface="Georgia"/>
                <a:cs typeface="Georgia"/>
              </a:rPr>
              <a:t>A price to test with real operators</a:t>
            </a:r>
          </a:p>
        </p:txBody>
      </p:sp>
      <p:sp>
        <p:nvSpPr>
          <p:cNvPr id="2" name="">
            <a:extLst xmlns:a="http://schemas.openxmlformats.org/drawingml/2006/main">
              <a:ext uri="{FF2B5EF4-FFF2-40B4-BE49-F238E27FC236}">
                <a16:creationId xmlns:a16="http://schemas.microsoft.com/office/drawing/2014/main" id="{99B58868-918D-4185-8855-D1D542453D43}"/>
              </a:ext>
            </a:extLst>
          </p:cNvPr>
          <p:cNvSpPr>
            <a:spLocks xmlns:a="http://schemas.openxmlformats.org/drawingml/2006/main" noGrp="1"/>
          </p:cNvSpPr>
          <p:nvPr/>
        </p:nvSpPr>
        <p:spPr>
          <a:xfrm xmlns:a="http://schemas.openxmlformats.org/drawingml/2006/main">
            <a:off x="762000" y="2381250"/>
            <a:ext cx="4667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300">
                <a:solidFill>
                  <a:srgbClr val="194D3B"/>
                </a:solidFill>
                <a:latin typeface="Georgia"/>
                <a:ea typeface="Georgia"/>
                <a:cs typeface="Georgia"/>
              </a:defRPr>
            </a:pPr>
            <a:r>
              <a:rPr sz="9300">
                <a:solidFill>
                  <a:srgbClr val="194D3B"/>
                </a:solidFill>
                <a:latin typeface="Georgia"/>
                <a:ea typeface="Georgia"/>
                <a:cs typeface="Georgia"/>
              </a:rPr>
              <a:t>$29</a:t>
            </a:r>
          </a:p>
        </p:txBody>
      </p:sp>
      <p:sp>
        <p:nvSpPr>
          <p:cNvPr id="3" name="">
            <a:extLst xmlns:a="http://schemas.openxmlformats.org/drawingml/2006/main">
              <a:ext uri="{FF2B5EF4-FFF2-40B4-BE49-F238E27FC236}">
                <a16:creationId xmlns:a16="http://schemas.microsoft.com/office/drawing/2014/main" id="{77F672AE-A122-47DF-B85A-2F6FEA5DAEA6}"/>
              </a:ext>
            </a:extLst>
          </p:cNvPr>
          <p:cNvSpPr>
            <a:spLocks xmlns:a="http://schemas.openxmlformats.org/drawingml/2006/main" noGrp="1"/>
          </p:cNvSpPr>
          <p:nvPr/>
        </p:nvSpPr>
        <p:spPr>
          <a:xfrm xmlns:a="http://schemas.openxmlformats.org/drawingml/2006/main">
            <a:off x="809625" y="3971925"/>
            <a:ext cx="561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03A30"/>
                </a:solidFill>
                <a:latin typeface="Arial"/>
                <a:ea typeface="Arial"/>
                <a:cs typeface="Arial"/>
              </a:defRPr>
            </a:pPr>
            <a:r>
              <a:rPr sz="2175">
                <a:solidFill>
                  <a:srgbClr val="203A30"/>
                </a:solidFill>
                <a:latin typeface="Arial"/>
                <a:ea typeface="Arial"/>
                <a:cs typeface="Arial"/>
              </a:rPr>
              <a:t>per location / month</a:t>
            </a:r>
          </a:p>
        </p:txBody>
      </p:sp>
      <p:sp>
        <p:nvSpPr>
          <p:cNvPr id="4" name="">
            <a:extLst xmlns:a="http://schemas.openxmlformats.org/drawingml/2006/main">
              <a:ext uri="{FF2B5EF4-FFF2-40B4-BE49-F238E27FC236}">
                <a16:creationId xmlns:a16="http://schemas.microsoft.com/office/drawing/2014/main" id="{357F0E47-D9CE-4153-B7E3-6B1DD2873465}"/>
              </a:ext>
            </a:extLst>
          </p:cNvPr>
          <p:cNvSpPr>
            <a:spLocks xmlns:a="http://schemas.openxmlformats.org/drawingml/2006/main" noGrp="1"/>
          </p:cNvSpPr>
          <p:nvPr/>
        </p:nvSpPr>
        <p:spPr>
          <a:xfrm xmlns:a="http://schemas.openxmlformats.org/drawingml/2006/main">
            <a:off x="6553200" y="24669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03A30"/>
                </a:solidFill>
                <a:latin typeface="Arial"/>
                <a:ea typeface="Arial"/>
                <a:cs typeface="Arial"/>
              </a:defRPr>
            </a:pPr>
            <a:r>
              <a:rPr sz="2175">
                <a:solidFill>
                  <a:srgbClr val="203A30"/>
                </a:solidFill>
                <a:latin typeface="Arial"/>
                <a:ea typeface="Arial"/>
                <a:cs typeface="Arial"/>
              </a:rPr>
              <a:t>Proposed allowance: 100 claim packs</a:t>
            </a:r>
          </a:p>
          <a:p xmlns:a="http://schemas.openxmlformats.org/drawingml/2006/main">
            <a:pPr>
              <a:defRPr sz="2175">
                <a:solidFill>
                  <a:srgbClr val="203A30"/>
                </a:solidFill>
                <a:latin typeface="Arial"/>
                <a:ea typeface="Arial"/>
                <a:cs typeface="Arial"/>
              </a:defRPr>
            </a:pPr>
            <a:r>
              <a:rPr sz="2175">
                <a:solidFill>
                  <a:srgbClr val="203A30"/>
                </a:solidFill>
                <a:latin typeface="Arial"/>
                <a:ea typeface="Arial"/>
                <a:cs typeface="Arial"/>
              </a:rPr>
              <a:t>with a defined request budget.</a:t>
            </a:r>
          </a:p>
        </p:txBody>
      </p:sp>
      <p:sp>
        <p:nvSpPr>
          <p:cNvPr id="5" name="">
            <a:extLst xmlns:a="http://schemas.openxmlformats.org/drawingml/2006/main">
              <a:ext uri="{FF2B5EF4-FFF2-40B4-BE49-F238E27FC236}">
                <a16:creationId xmlns:a16="http://schemas.microsoft.com/office/drawing/2014/main" id="{408BD99C-4150-4F27-AA05-AC25A08BDDFA}"/>
              </a:ext>
            </a:extLst>
          </p:cNvPr>
          <p:cNvSpPr>
            <a:spLocks xmlns:a="http://schemas.openxmlformats.org/drawingml/2006/main" noGrp="1"/>
          </p:cNvSpPr>
          <p:nvPr/>
        </p:nvSpPr>
        <p:spPr>
          <a:xfrm xmlns:a="http://schemas.openxmlformats.org/drawingml/2006/main">
            <a:off x="6553200" y="4010025"/>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63766C"/>
                </a:solidFill>
                <a:latin typeface="Arial"/>
                <a:ea typeface="Arial"/>
                <a:cs typeface="Arial"/>
              </a:defRPr>
            </a:pPr>
            <a:r>
              <a:rPr sz="2100">
                <a:solidFill>
                  <a:srgbClr val="63766C"/>
                </a:solidFill>
                <a:latin typeface="Arial"/>
                <a:ea typeface="Arial"/>
                <a:cs typeface="Arial"/>
              </a:rPr>
              <a:t>A small guided trial first.</a:t>
            </a:r>
          </a:p>
          <a:p xmlns:a="http://schemas.openxmlformats.org/drawingml/2006/main">
            <a:pPr>
              <a:defRPr sz="2100">
                <a:solidFill>
                  <a:srgbClr val="63766C"/>
                </a:solidFill>
                <a:latin typeface="Arial"/>
                <a:ea typeface="Arial"/>
                <a:cs typeface="Arial"/>
              </a:defRPr>
            </a:pPr>
            <a:r>
              <a:rPr sz="2100">
                <a:solidFill>
                  <a:srgbClr val="63766C"/>
                </a:solidFill>
                <a:latin typeface="Arial"/>
                <a:ea typeface="Arial"/>
                <a:cs typeface="Arial"/>
              </a:rPr>
              <a:t>Measure inference and support costs</a:t>
            </a:r>
          </a:p>
          <a:p xmlns:a="http://schemas.openxmlformats.org/drawingml/2006/main">
            <a:pPr>
              <a:defRPr sz="2100">
                <a:solidFill>
                  <a:srgbClr val="63766C"/>
                </a:solidFill>
                <a:latin typeface="Arial"/>
                <a:ea typeface="Arial"/>
                <a:cs typeface="Arial"/>
              </a:defRPr>
            </a:pPr>
            <a:r>
              <a:rPr sz="2100">
                <a:solidFill>
                  <a:srgbClr val="63766C"/>
                </a:solidFill>
                <a:latin typeface="Arial"/>
                <a:ea typeface="Arial"/>
                <a:cs typeface="Arial"/>
              </a:rPr>
              <a:t>before expanding access.</a:t>
            </a:r>
          </a:p>
        </p:txBody>
      </p:sp>
      <p:sp>
        <p:nvSpPr>
          <p:cNvPr id="6" name="">
            <a:extLst xmlns:a="http://schemas.openxmlformats.org/drawingml/2006/main">
              <a:ext uri="{FF2B5EF4-FFF2-40B4-BE49-F238E27FC236}">
                <a16:creationId xmlns:a16="http://schemas.microsoft.com/office/drawing/2014/main" id="{6C75B3B3-B896-4E6E-A898-F1451C305E55}"/>
              </a:ext>
            </a:extLst>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63766C"/>
                </a:solidFill>
                <a:latin typeface="Arial"/>
                <a:ea typeface="Arial"/>
                <a:cs typeface="Arial"/>
              </a:defRPr>
            </a:pPr>
            <a:r>
              <a:rPr sz="1275">
                <a:solidFill>
                  <a:srgbClr val="63766C"/>
                </a:solidFill>
                <a:latin typeface="Arial"/>
                <a:ea typeface="Arial"/>
                <a:cs typeface="Arial"/>
              </a:rPr>
              <a:t>Pricing and allowance are hypotheses. No customers, revenue, or paid commitments claimed.</a:t>
            </a:r>
          </a:p>
        </p:txBody>
      </p:sp>
      <p:sp>
        <p:nvSpPr>
          <p:cNvPr id="7" name="">
            <a:extLst xmlns:a="http://schemas.openxmlformats.org/drawingml/2006/main">
              <a:ext uri="{FF2B5EF4-FFF2-40B4-BE49-F238E27FC236}">
                <a16:creationId xmlns:a16="http://schemas.microsoft.com/office/drawing/2014/main" id="{848A9EDB-12E3-4910-9436-1FB15BC70AA8}"/>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63766C"/>
                </a:solidFill>
                <a:latin typeface="Arial"/>
                <a:ea typeface="Arial"/>
                <a:cs typeface="Arial"/>
              </a:defRPr>
            </a:pPr>
            <a:r>
              <a:rPr sz="1275">
                <a:solidFill>
                  <a:srgbClr val="63766C"/>
                </a:solidFill>
                <a:latin typeface="Arial"/>
                <a:ea typeface="Arial"/>
                <a:cs typeface="Arial"/>
              </a:rPr>
              <a:t>06</a:t>
            </a:r>
          </a:p>
        </p:txBody>
      </p:sp>
    </p:spTree>
    <p:extLst>
      <p:ext uri="{BB962C8B-B14F-4D97-AF65-F5344CB8AC3E}">
        <p14:creationId xmlns:p14="http://schemas.microsoft.com/office/powerpoint/2010/main" val="574278191"/>
      </p:ext>
    </p:extLst>
  </p:cSld>
</p:sld>
</file>

<file path=ppt/slides/slide7.xml><?xml version="1.0" encoding="utf-8"?>
<p:sld xmlns:p="http://schemas.openxmlformats.org/presentationml/2006/main">
  <p:cSld>
    <p:bg>
      <p:bgPr>
        <a:solidFill xmlns:a="http://schemas.openxmlformats.org/drawingml/2006/main">
          <a:srgbClr val="194D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46A3F6-B169-49C9-87D9-41FD11C5EED6}"/>
              </a:ext>
            </a:extLst>
          </p:cNvPr>
          <p:cNvSpPr>
            <a:spLocks xmlns:a="http://schemas.openxmlformats.org/drawingml/2006/main" noGrp="1"/>
          </p:cNvSpPr>
          <p:nvPr/>
        </p:nvSpPr>
        <p:spPr>
          <a:xfrm xmlns:a="http://schemas.openxmlformats.org/drawingml/2006/main">
            <a:off x="762000" y="914400"/>
            <a:ext cx="1038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a:solidFill>
                  <a:srgbClr val="F7F8F5"/>
                </a:solidFill>
                <a:latin typeface="Georgia"/>
                <a:ea typeface="Georgia"/>
                <a:cs typeface="Georgia"/>
              </a:defRPr>
            </a:pPr>
            <a:r>
              <a:rPr sz="5025">
                <a:solidFill>
                  <a:srgbClr val="F7F8F5"/>
                </a:solidFill>
                <a:latin typeface="Georgia"/>
                <a:ea typeface="Georgia"/>
                <a:cs typeface="Georgia"/>
              </a:rPr>
              <a:t>Seeking five</a:t>
            </a:r>
          </a:p>
          <a:p xmlns:a="http://schemas.openxmlformats.org/drawingml/2006/main">
            <a:pPr>
              <a:defRPr sz="5025">
                <a:solidFill>
                  <a:srgbClr val="F7F8F5"/>
                </a:solidFill>
                <a:latin typeface="Georgia"/>
                <a:ea typeface="Georgia"/>
                <a:cs typeface="Georgia"/>
              </a:defRPr>
            </a:pPr>
            <a:r>
              <a:rPr sz="5025">
                <a:solidFill>
                  <a:srgbClr val="F7F8F5"/>
                </a:solidFill>
                <a:latin typeface="Georgia"/>
                <a:ea typeface="Georgia"/>
                <a:cs typeface="Georgia"/>
              </a:rPr>
              <a:t>design partners</a:t>
            </a:r>
          </a:p>
        </p:txBody>
      </p:sp>
      <p:sp>
        <p:nvSpPr>
          <p:cNvPr id="2" name="">
            <a:extLst xmlns:a="http://schemas.openxmlformats.org/drawingml/2006/main">
              <a:ext uri="{FF2B5EF4-FFF2-40B4-BE49-F238E27FC236}">
                <a16:creationId xmlns:a16="http://schemas.microsoft.com/office/drawing/2014/main" id="{D0D36188-D3A0-40A4-AAB9-A730D9F7FF65}"/>
              </a:ext>
            </a:extLst>
          </p:cNvPr>
          <p:cNvSpPr>
            <a:spLocks xmlns:a="http://schemas.openxmlformats.org/drawingml/2006/main" noGrp="1"/>
          </p:cNvSpPr>
          <p:nvPr/>
        </p:nvSpPr>
        <p:spPr>
          <a:xfrm xmlns:a="http://schemas.openxmlformats.org/drawingml/2006/main">
            <a:off x="800100" y="2943225"/>
            <a:ext cx="1052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D9EBDF"/>
                </a:solidFill>
                <a:latin typeface="Arial"/>
                <a:ea typeface="Arial"/>
                <a:cs typeface="Arial"/>
              </a:defRPr>
            </a:pPr>
            <a:r>
              <a:rPr sz="2325">
                <a:solidFill>
                  <a:srgbClr val="D9EBDF"/>
                </a:solidFill>
                <a:latin typeface="Arial"/>
                <a:ea typeface="Arial"/>
                <a:cs typeface="Arial"/>
              </a:rPr>
              <a:t>Independent operators and hospitality bookkeepers</a:t>
            </a:r>
          </a:p>
        </p:txBody>
      </p:sp>
      <p:sp>
        <p:nvSpPr>
          <p:cNvPr id="3" name="">
            <a:extLst xmlns:a="http://schemas.openxmlformats.org/drawingml/2006/main">
              <a:ext uri="{FF2B5EF4-FFF2-40B4-BE49-F238E27FC236}">
                <a16:creationId xmlns:a16="http://schemas.microsoft.com/office/drawing/2014/main" id="{36CBFFE8-F45C-4282-BE90-4E7A23CB9237}"/>
              </a:ext>
            </a:extLst>
          </p:cNvPr>
          <p:cNvSpPr>
            <a:spLocks xmlns:a="http://schemas.openxmlformats.org/drawingml/2006/main" noGrp="1"/>
          </p:cNvSpPr>
          <p:nvPr/>
        </p:nvSpPr>
        <p:spPr>
          <a:xfrm xmlns:a="http://schemas.openxmlformats.org/drawingml/2006/main">
            <a:off x="800100" y="3933825"/>
            <a:ext cx="10096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7F8F5"/>
                </a:solidFill>
                <a:latin typeface="Arial"/>
                <a:ea typeface="Arial"/>
                <a:cs typeface="Arial"/>
              </a:defRPr>
            </a:pPr>
            <a:r>
              <a:rPr sz="2325">
                <a:solidFill>
                  <a:srgbClr val="F7F8F5"/>
                </a:solidFill>
                <a:latin typeface="Arial"/>
                <a:ea typeface="Arial"/>
                <a:cs typeface="Arial"/>
              </a:rPr>
              <a:t>Observe a recent case.</a:t>
            </a:r>
          </a:p>
          <a:p xmlns:a="http://schemas.openxmlformats.org/drawingml/2006/main">
            <a:pPr>
              <a:defRPr sz="2325">
                <a:solidFill>
                  <a:srgbClr val="F7F8F5"/>
                </a:solidFill>
                <a:latin typeface="Arial"/>
                <a:ea typeface="Arial"/>
                <a:cs typeface="Arial"/>
              </a:defRPr>
            </a:pPr>
            <a:r>
              <a:rPr sz="2325">
                <a:solidFill>
                  <a:srgbClr val="F7F8F5"/>
                </a:solidFill>
                <a:latin typeface="Arial"/>
                <a:ea typeface="Arial"/>
                <a:cs typeface="Arial"/>
              </a:rPr>
              <a:t>Measure review time and corrections.</a:t>
            </a:r>
          </a:p>
          <a:p xmlns:a="http://schemas.openxmlformats.org/drawingml/2006/main">
            <a:pPr>
              <a:defRPr sz="2325">
                <a:solidFill>
                  <a:srgbClr val="F7F8F5"/>
                </a:solidFill>
                <a:latin typeface="Arial"/>
                <a:ea typeface="Arial"/>
                <a:cs typeface="Arial"/>
              </a:defRPr>
            </a:pPr>
            <a:r>
              <a:rPr sz="2325">
                <a:solidFill>
                  <a:srgbClr val="F7F8F5"/>
                </a:solidFill>
                <a:latin typeface="Arial"/>
                <a:ea typeface="Arial"/>
                <a:cs typeface="Arial"/>
              </a:rPr>
              <a:t>Ask for a concrete paid commitment.</a:t>
            </a:r>
          </a:p>
        </p:txBody>
      </p:sp>
      <p:sp>
        <p:nvSpPr>
          <p:cNvPr id="4" name="">
            <a:extLst xmlns:a="http://schemas.openxmlformats.org/drawingml/2006/main">
              <a:ext uri="{FF2B5EF4-FFF2-40B4-BE49-F238E27FC236}">
                <a16:creationId xmlns:a16="http://schemas.microsoft.com/office/drawing/2014/main" id="{083FCDF4-E976-4CC6-97D5-1DF806D6BA9D}"/>
              </a:ext>
            </a:extLst>
            <ns0:hlinkClick xmlns:ns0="http://schemas.openxmlformats.org/drawingml/2006/main" xmlns:ns1="http://schemas.openxmlformats.org/officeDocument/2006/relationships" ns1:id="rIdRemainderLink2"/>
          </p:cNvPr>
          <p:cNvSpPr>
            <a:spLocks xmlns:a="http://schemas.openxmlformats.org/drawingml/2006/main" noGrp="1"/>
          </p:cNvSpPr>
          <p:nvPr/>
        </p:nvSpPr>
        <p:spPr>
          <a:xfrm xmlns:a="http://schemas.openxmlformats.org/drawingml/2006/main">
            <a:off x="800100" y="55626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D9EBDF"/>
                </a:solidFill>
                <a:latin typeface="Arial"/>
                <a:ea typeface="Arial"/>
                <a:cs typeface="Arial"/>
              </a:defRPr>
            </a:pPr>
            <a:r>
              <a:rPr sz="2100" b="1">
                <a:solidFill>
                  <a:srgbClr val="D9EBDF"/>
                </a:solidFill>
                <a:latin typeface="Arial"/>
                <a:ea typeface="Arial"/>
                <a:cs typeface="Arial"/>
              </a:rPr>
              <a:t>remainder-desk.web.app →</a:t>
            </a:r>
          </a:p>
        </p:txBody>
      </p:sp>
      <p:sp>
        <p:nvSpPr>
          <p:cNvPr id="5" name="">
            <a:extLst xmlns:a="http://schemas.openxmlformats.org/drawingml/2006/main">
              <a:ext uri="{FF2B5EF4-FFF2-40B4-BE49-F238E27FC236}">
                <a16:creationId xmlns:a16="http://schemas.microsoft.com/office/drawing/2014/main" id="{5CB3F50E-5D40-4627-8B46-68E4F9A43447}"/>
              </a:ext>
            </a:extLst>
            <ns2:hlinkClick xmlns:ns2="http://schemas.openxmlformats.org/drawingml/2006/main" xmlns:ns3="http://schemas.openxmlformats.org/officeDocument/2006/relationships" ns3:id="rIdRemainderLink3"/>
          </p:cNvPr>
          <p:cNvSpPr>
            <a:spLocks xmlns:a="http://schemas.openxmlformats.org/drawingml/2006/main" noGrp="1"/>
          </p:cNvSpPr>
          <p:nvPr/>
        </p:nvSpPr>
        <p:spPr>
          <a:xfrm xmlns:a="http://schemas.openxmlformats.org/drawingml/2006/main">
            <a:off x="762000" y="62388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D9EBDF"/>
                </a:solidFill>
                <a:latin typeface="Arial"/>
                <a:ea typeface="Arial"/>
                <a:cs typeface="Arial"/>
              </a:defRPr>
            </a:pPr>
            <a:r>
              <a:rPr sz="1275">
                <a:solidFill>
                  <a:srgbClr val="D9EBDF"/>
                </a:solidFill>
                <a:latin typeface="Arial"/>
                <a:ea typeface="Arial"/>
                <a:cs typeface="Arial"/>
              </a:rPr>
              <a:t>Public source / github.com/shi1720/evorozen</a:t>
            </a:r>
          </a:p>
        </p:txBody>
      </p:sp>
      <p:sp>
        <p:nvSpPr>
          <p:cNvPr id="6" name="">
            <a:extLst xmlns:a="http://schemas.openxmlformats.org/drawingml/2006/main">
              <a:ext uri="{FF2B5EF4-FFF2-40B4-BE49-F238E27FC236}">
                <a16:creationId xmlns:a16="http://schemas.microsoft.com/office/drawing/2014/main" id="{6FA70CAE-1E5F-4530-8A85-405D3A6E534F}"/>
              </a:ext>
            </a:extLst>
          </p:cNvPr>
          <p:cNvSpPr>
            <a:spLocks xmlns:a="http://schemas.openxmlformats.org/drawingml/2006/main" noGrp="1"/>
          </p:cNvSpPr>
          <p:nvPr/>
        </p:nvSpPr>
        <p:spPr>
          <a:xfrm xmlns:a="http://schemas.openxmlformats.org/drawingml/2006/main">
            <a:off x="11049000" y="6238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D9EBDF"/>
                </a:solidFill>
                <a:latin typeface="Arial"/>
                <a:ea typeface="Arial"/>
                <a:cs typeface="Arial"/>
              </a:defRPr>
            </a:pPr>
            <a:r>
              <a:rPr sz="1275">
                <a:solidFill>
                  <a:srgbClr val="D9EBDF"/>
                </a:solidFill>
                <a:latin typeface="Arial"/>
                <a:ea typeface="Arial"/>
                <a:cs typeface="Arial"/>
              </a:rPr>
              <a:t>07</a:t>
            </a:r>
          </a:p>
        </p:txBody>
      </p:sp>
    </p:spTree>
    <p:extLst>
      <p:ext uri="{BB962C8B-B14F-4D97-AF65-F5344CB8AC3E}">
        <p14:creationId xmlns:p14="http://schemas.microsoft.com/office/powerpoint/2010/main" val="1190533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2026-09-23T05:48:51.8880000Z</dcterms:created>
  <dcterms:modified xsi:type="dcterms:W3CDTF">2026-09-23T05:48:51.8880000Z</dcterms:modified>
</coreProperties>
</file>