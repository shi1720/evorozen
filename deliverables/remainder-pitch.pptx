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304ec108dd4cb5" /><Relationship Type="http://schemas.openxmlformats.org/officeDocument/2006/relationships/extended-properties" Target="/docProps/app.xml" Id="Rccb60f29063b441b" /><Relationship Type="http://schemas.openxmlformats.org/officeDocument/2006/relationships/officeDocument" Target="/ppt/presentation.xml" Id="R23aa56aafca249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a8cbd69644eae"/>
  </p:sldMasterIdLst>
  <p:notesMasterIdLst>
    <p:notesMasterId xmlns:r="http://schemas.openxmlformats.org/officeDocument/2006/relationships" r:id="Rc8960e37f2464081"/>
  </p:notesMasterIdLst>
  <p:sldIdLst>
    <p:sldId xmlns:r="http://schemas.openxmlformats.org/officeDocument/2006/relationships" id="256" r:id="R6af06ae9f4b24e38"/>
    <p:sldId xmlns:r="http://schemas.openxmlformats.org/officeDocument/2006/relationships" id="257" r:id="Rd05ad8da8f9a428a"/>
    <p:sldId xmlns:r="http://schemas.openxmlformats.org/officeDocument/2006/relationships" id="258" r:id="R1a8cb2c08dae4cca"/>
    <p:sldId xmlns:r="http://schemas.openxmlformats.org/officeDocument/2006/relationships" id="259" r:id="R281239c37c6d4180"/>
    <p:sldId xmlns:r="http://schemas.openxmlformats.org/officeDocument/2006/relationships" id="260" r:id="R6a73c1f2aeb74204"/>
    <p:sldId xmlns:r="http://schemas.openxmlformats.org/officeDocument/2006/relationships" id="261" r:id="R858af5b7cb7949da"/>
    <p:sldId xmlns:r="http://schemas.openxmlformats.org/officeDocument/2006/relationships" id="262" r:id="Ra18cbd30ee5643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5106b77f074724" /><Relationship Type="http://schemas.openxmlformats.org/officeDocument/2006/relationships/slideMaster" Target="/ppt/slideMasters/slideMaster1.xml" Id="R228a8cbd69644eae" /><Relationship Type="http://schemas.openxmlformats.org/officeDocument/2006/relationships/notesMaster" Target="/ppt/notesMasters/notesMaster1.xml" Id="Rc8960e37f2464081" /><Relationship Type="http://schemas.openxmlformats.org/officeDocument/2006/relationships/presProps" Target="/ppt/presProps.xml" Id="R9b2227478992465b" /><Relationship Type="http://schemas.openxmlformats.org/officeDocument/2006/relationships/tableStyles" Target="/ppt/tableStyles.xml" Id="Rb79f6362dfbb4791" /><Relationship Type="http://schemas.openxmlformats.org/officeDocument/2006/relationships/slide" Target="/ppt/slides/slide1.xml" Id="R6af06ae9f4b24e38" /><Relationship Type="http://schemas.openxmlformats.org/officeDocument/2006/relationships/slide" Target="/ppt/slides/slide2.xml" Id="Rd05ad8da8f9a428a" /><Relationship Type="http://schemas.openxmlformats.org/officeDocument/2006/relationships/slide" Target="/ppt/slides/slide3.xml" Id="R1a8cb2c08dae4cca" /><Relationship Type="http://schemas.openxmlformats.org/officeDocument/2006/relationships/slide" Target="/ppt/slides/slide4.xml" Id="R281239c37c6d4180" /><Relationship Type="http://schemas.openxmlformats.org/officeDocument/2006/relationships/slide" Target="/ppt/slides/slide5.xml" Id="R6a73c1f2aeb74204" /><Relationship Type="http://schemas.openxmlformats.org/officeDocument/2006/relationships/slide" Target="/ppt/slides/slide6.xml" Id="R858af5b7cb7949da" /><Relationship Type="http://schemas.openxmlformats.org/officeDocument/2006/relationships/slide" Target="/ppt/slides/slide7.xml" Id="Ra18cbd30ee5643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4ddb9b3bfd42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fc0f671ced4f8d" /><Relationship Type="http://schemas.openxmlformats.org/officeDocument/2006/relationships/notesMaster" Target="/ppt/notesMasters/notesMaster1.xml" Id="R65867366727c45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c107a138064603" /><Relationship Type="http://schemas.openxmlformats.org/officeDocument/2006/relationships/notesMaster" Target="/ppt/notesMasters/notesMaster1.xml" Id="Rac4a035a842c40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974bc41559415e" /><Relationship Type="http://schemas.openxmlformats.org/officeDocument/2006/relationships/notesMaster" Target="/ppt/notesMasters/notesMaster1.xml" Id="Raf29709cd9274e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39addd47ba467e" /><Relationship Type="http://schemas.openxmlformats.org/officeDocument/2006/relationships/notesMaster" Target="/ppt/notesMasters/notesMaster1.xml" Id="R8b8db61e251140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38d71cc6a74328" /><Relationship Type="http://schemas.openxmlformats.org/officeDocument/2006/relationships/notesMaster" Target="/ppt/notesMasters/notesMaster1.xml" Id="Rfb0a6e49debf46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f4056216664702" /><Relationship Type="http://schemas.openxmlformats.org/officeDocument/2006/relationships/notesMaster" Target="/ppt/notesMasters/notesMaster1.xml" Id="R5728358a01b246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db509fbdef43d2" /><Relationship Type="http://schemas.openxmlformats.org/officeDocument/2006/relationships/notesMaster" Target="/ppt/notesMasters/notesMaster1.xml" Id="Rc09b7d56c3c749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Created by Shivam Gupta with AI-assisted research, design, and engineering. This deck presents a pre-launch product and commercial plan. It makes no claim of real customer traction or verified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hypothesis to validate with design partners. It is not a customer interview quote. Source context: Xero documents applying supplier credits separately from other credit transactions: https://central.xero.com/s/article/Apply-a-supplier-s-credit-to-a-bill . Research and competitor analysis: docs/research.md.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data from the reproducible Fern &amp; Flour fixture, not customer results. Northstar invoice NF-1042: 12 oat cases invoiced, 8 received, at $36 gives $144 shortage. 10 tomato cases invoiced, 7 received, at $24 gives $72 shortage. Four olive-oil tins received as invoiced gives zero shortage. Total claim $216. Credit CN-208 references NF-1042 and credits $144 oat drink. Remaining $72. Chart source values: credit-note verified 144 and outstanding 72, USD. Accounting application and cash receipt remain separate, unverified steps.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docs/architecture.md. Validation: docs/validation-ai.md. Gemini 3.5 Flash-Lite passed live synthetic USD 216/144/72 and independent GBP 63.55/18.75/44.80 packs on 23 September 2026. This is integration evidence, not an accuracy benchmark or real customer traction. Evorozen chat adapter is implemented; sponsor inference was unavailable during testing. Separate VirtualDB CRUD probes do not prove sponsor extraction worked. Application code owns authorization, arithmetic, workflow state, and tenant-specific supplier aliases.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Positioning hypothesis, not a claim of exclusivity or proven superiority. Supply Verify already captures delivery notes, detects shortages and issues credit requests: https://www.supplyverify.ai/en/ . Supy provides hospitality invoice matching and broader procurement workflows: https://supy.io/product-features/invoice-receiving . Canals reconciles statements against ERP records: https://www.canals.ai/products/distributor-statement-reconciiation . Remainder differentiates through focused review and partial-credit follow-through for independent operators; validate with actual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 and allowance are proposed, not verified willingness to pay or implemented subscription billing. Unit-economics sensitivities and exclusions are in docs/go-to-market.md. Evorozen offer reviewed September 23, 2026: https://pulse.evorozen.com/dashboard says first 50 calls free, no card needed. It does not state a recurring monthly allowance. Paid API cost remains unverified. The sponsor adapter can use multiple extraction windows per analysis due to a 2,000-character prompt limit. Each outbound window and fallback consumes a call; do not assume two analyses equal two calls. At the illustrative $0.025/call, 100 packs with two analyses and 10 percent retries cost $5.50 in AI at one window per analysis, or $44 at eight windows, before other costs. See docs/go-to-market.md for assumptions.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Five design partners is a recruitment target, not existing users or commitments. Seven-day launch plan and outreach drafts: docs/go-to-market.md. Creator: Shivam Gupta, with AI-assisted engineering. Repository: https://github.com/shi1720/evorozen . No customer outcomes or paid revenue have been established in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45a0eb292e41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f54ff13a784931" /><Relationship Type="http://schemas.openxmlformats.org/officeDocument/2006/relationships/slideLayout" Target="/ppt/slideLayouts/slideLayout1.xml" Id="Red9159c4c8f14c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9159c4c8f14c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95a6f862048e7" /><Relationship Type="http://schemas.openxmlformats.org/officeDocument/2006/relationships/notesSlide" Target="/ppt/notesSlides/notesSlide1.xml" Id="Ra61aa0221ca04f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6e830321f4bd7" /><Relationship Type="http://schemas.openxmlformats.org/officeDocument/2006/relationships/notesSlide" Target="/ppt/notesSlides/notesSlide2.xml" Id="R38fa253c147940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0c9fc8129490d" /><Relationship Type="http://schemas.openxmlformats.org/officeDocument/2006/relationships/chart" Target="/ppt/slides/charts/chart1.xml" Id="R78c40103c62b4ecd" /><Relationship Type="http://schemas.openxmlformats.org/officeDocument/2006/relationships/notesSlide" Target="/ppt/notesSlides/notesSlide3.xml" Id="R47c3e7d6069b45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b7b7e61ea4c4f" /><Relationship Type="http://schemas.openxmlformats.org/officeDocument/2006/relationships/notesSlide" Target="/ppt/notesSlides/notesSlide4.xml" Id="R7549c4dff88049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6a5825f0846b1" /><Relationship Type="http://schemas.openxmlformats.org/officeDocument/2006/relationships/notesSlide" Target="/ppt/notesSlides/notesSlide5.xml" Id="R5b782d91c1d440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7178dd5f64085" /><Relationship Type="http://schemas.openxmlformats.org/officeDocument/2006/relationships/notesSlide" Target="/ppt/notesSlides/notesSlide6.xml" Id="R9044cabc8f9648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87090c4284563" /><Relationship Type="http://schemas.openxmlformats.org/officeDocument/2006/relationships/notesSlide" Target="/ppt/notesSlides/notesSlide7.xml" Id="R001196a84e3740e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Credit note verified</c:v>
          </c:tx>
          <c:spPr>
            <a:solidFill xmlns:a="http://schemas.openxmlformats.org/drawingml/2006/main">
              <a:srgbClr val="194D3B"/>
            </a:solidFill>
          </c:spPr>
          <c:cat>
            <c:strRef>
              <c:f>'Chart Data'!$A$2:$A$2</c:f>
              <c:strCache>
                <c:ptCount val="1"/>
                <c:pt idx="0">
                  <c:v>NF-1042</c:v>
                </c:pt>
              </c:strCache>
            </c:strRef>
          </c:cat>
          <c:val>
            <c:numRef>
              <c:f>'Chart Data'!$B$2:$B$2</c:f>
              <c:numCache>
                <c:formatCode>$0</c:formatCode>
                <c:ptCount val="1"/>
                <c:pt idx="0">
                  <c:v>144</c:v>
                </c:pt>
              </c:numCache>
            </c:numRef>
          </c:val>
        </c:ser>
        <c:ser>
          <c:idx val="1"/>
          <c:order val="1"/>
          <c:tx>
            <c:v>Still outstanding</c:v>
          </c:tx>
          <c:spPr>
            <a:solidFill xmlns:a="http://schemas.openxmlformats.org/drawingml/2006/main">
              <a:srgbClr val="BA7B42"/>
            </a:solidFill>
          </c:spPr>
          <c:cat>
            <c:strRef>
              <c:f>'Chart Data'!$C$2:$C$2</c:f>
              <c:strCache>
                <c:ptCount val="1"/>
                <c:pt idx="0">
                  <c:v>NF-1042</c:v>
                </c:pt>
              </c:strCache>
            </c:strRef>
          </c:cat>
          <c:val>
            <c:numRef>
              <c:f>'Chart Data'!$D$2:$D$2</c:f>
              <c:numCache>
                <c:formatCode>$0</c:formatCode>
                <c:ptCount val="1"/>
                <c:pt idx="0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550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16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8F5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8F5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4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DD68A-F1D9-4CB7-BEBD-2BA837D8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5727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400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8400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Remainder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C1C90-D596-415E-89E6-74924BA7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D9EBDF"/>
                </a:solidFill>
                <a:latin typeface="Arial"/>
                <a:ea typeface="Arial"/>
                <a:cs typeface="Arial"/>
              </a:rPr>
              <a:t>A supplier-credit desk for</a:t>
            </a:r>
          </a:p>
          <a:p xmlns:a="http://schemas.openxmlformats.org/drawingml/2006/main">
            <a:pPr>
              <a:defRPr sz="2700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700">
                <a:solidFill>
                  <a:srgbClr val="D9EBDF"/>
                </a:solidFill>
                <a:latin typeface="Arial"/>
                <a:ea typeface="Arial"/>
                <a:cs typeface="Arial"/>
              </a:rPr>
              <a:t>independent food businesses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11220-D0DD-4497-A8D5-5BE7D38A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Shivam Gupta / Evorozen Apex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D53E2-A0EC-4956-9234-B7D6AC6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72433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DB4E6-01AE-4650-9693-2FD2B25F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The supplier-credit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CC00C-C6F8-4DDB-8558-7223AFE8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0572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57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“We’ll credit you.”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E2160-325B-4FE3-90F6-7A9A6B53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50958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invoice records the charge.</a:t>
            </a:r>
          </a:p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delivery note records the shortage.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37C745-E029-4FFB-B43A-70B0284C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6237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credit arrives later.</a:t>
            </a:r>
          </a:p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Someone still has to check the remainder.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F89E92-F234-49EC-9413-A5B6AB7B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006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63766C"/>
                </a:solidFill>
                <a:latin typeface="Arial"/>
                <a:ea typeface="Arial"/>
                <a:cs typeface="Arial"/>
              </a:rPr>
              <a:t>A focused job for the owner or bookkeeper of an independent cafe.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4FCD9-6C00-4ACC-91D1-A05DD5BD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Remainder / Shivam Gupta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43303-851E-4329-B958-28E6D31C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416147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B04B2-EC60-4259-8002-CE010059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$72 remainder stays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6AFCAC-1172-4D11-B7AB-109687F5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3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63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$216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C65EC-3963-4031-8357-1A76538E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203A30"/>
                </a:solidFill>
                <a:latin typeface="Arial"/>
                <a:ea typeface="Arial"/>
                <a:cs typeface="Arial"/>
              </a:rPr>
              <a:t>reviewed shortage claim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762000" y="3714750"/>
          <a:ext xmlns:a="http://schemas.openxmlformats.org/drawingml/2006/main" cx="10668000" cy="114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c40103c62b4ec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E4CB5-6AD1-4E8B-9930-18EFED72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690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94D3B"/>
                </a:solidFill>
                <a:latin typeface="Arial"/>
                <a:ea typeface="Arial"/>
                <a:cs typeface="Arial"/>
              </a:rPr>
              <a:t>$144 credit note verified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64BAF-DEF2-48C0-ACCF-FA1D45C2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A7B42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BA7B42"/>
                </a:solidFill>
                <a:latin typeface="Arial"/>
                <a:ea typeface="Arial"/>
                <a:cs typeface="Arial"/>
              </a:rPr>
              <a:t>$72 still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32726-DA5B-4DEA-A025-E0A06FCB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Fictional USD example. Credit-note evidence does not establish cash received.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1F07F-5C90-4AE3-886C-B4D5828C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8542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D2F80-D108-479E-AB98-5211253E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Every amount has a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CCAFC8-0640-47E3-A007-19F47426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AI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83DA5-3D7E-489E-86BB-C4B0E7C0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241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Gemini passed two live synthetic cases.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AI proposes matching line items.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9C2FF-6B64-4670-A12C-2A309300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74B5E-8E90-4B35-9211-0C28DF48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5052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The user checks exact source quotations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before approving a claim.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29FE7-A418-4C97-A561-94E7A84B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Deterministic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CC0A6-C404-4582-ADAA-E28A828B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86300"/>
            <a:ext cx="657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Integer-cent arithmetic and duplicate controls</a:t>
            </a:r>
          </a:p>
          <a:p xmlns:a="http://schemas.openxmlformats.org/drawingml/2006/main">
            <a:pPr>
              <a:defRPr sz="202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203A30"/>
                </a:solidFill>
                <a:latin typeface="Arial"/>
                <a:ea typeface="Arial"/>
                <a:cs typeface="Arial"/>
              </a:rPr>
              <a:t>keep the credit balance consistent.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9FBCB-ED4A-42DA-BC0A-785BD267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Gemini live checks passed on 2 synthetic packs. Sample walkthrough uses replay.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74574-0145-43DD-966A-4D6859A3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219230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9EBD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0D605-2FE2-48A3-A3A1-515BF857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small desk beside the bookkeeper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DE5CE-364B-425A-8C82-04985ACA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0525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Independent cafes, restaurants,</a:t>
            </a:r>
          </a:p>
          <a:p xmlns:a="http://schemas.openxmlformats.org/drawingml/2006/main">
            <a:pPr>
              <a:defRPr sz="30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30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and small food retailers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B4570-47D2-488A-BF88-5811F8D4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7151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A case begins with existing documents.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It ends with a reviewed claim, credit evidence,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and a record of what remains open.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41B8D-D6D8-4FA2-B00A-7706E74D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766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No ERP connection</a:t>
            </a:r>
          </a:p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required for the</a:t>
            </a:r>
          </a:p>
          <a:p xmlns:a="http://schemas.openxmlformats.org/drawingml/2006/main">
            <a:pPr>
              <a:defRPr sz="2100" b="1">
                <a:solidFill>
                  <a:srgbClr val="194D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4D3B"/>
                </a:solidFill>
                <a:latin typeface="Arial"/>
                <a:ea typeface="Arial"/>
                <a:cs typeface="Arial"/>
              </a:rPr>
              <a:t>core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071F30-9CF1-4582-A23F-310D492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Existing alternatives: Supply Verify, Supy, Canals, accounting tools, and spreadsheets.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EE7BA-059C-40CE-9B3A-9BB0C23B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98699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9D7C8-DA02-427F-9881-251202CA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066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>
                <a:solidFill>
                  <a:srgbClr val="203A30"/>
                </a:solidFill>
                <a:latin typeface="Georgia"/>
                <a:ea typeface="Georgia"/>
                <a:cs typeface="Georgia"/>
              </a:defRPr>
            </a:pPr>
            <a:r>
              <a:rPr sz="4200">
                <a:solidFill>
                  <a:srgbClr val="203A30"/>
                </a:solidFill>
                <a:latin typeface="Georgia"/>
                <a:ea typeface="Georgia"/>
                <a:cs typeface="Georgia"/>
              </a:rPr>
              <a:t>A price to test with real operators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A12D6-6D51-4F1C-9093-60ACAFF1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4667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300">
                <a:solidFill>
                  <a:srgbClr val="194D3B"/>
                </a:solidFill>
                <a:latin typeface="Georgia"/>
                <a:ea typeface="Georgia"/>
                <a:cs typeface="Georgia"/>
              </a:defRPr>
            </a:pPr>
            <a:r>
              <a:rPr sz="9300">
                <a:solidFill>
                  <a:srgbClr val="194D3B"/>
                </a:solidFill>
                <a:latin typeface="Georgia"/>
                <a:ea typeface="Georgia"/>
                <a:cs typeface="Georgia"/>
              </a:rPr>
              <a:t>$29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D2F85-DD87-4B0E-ACB6-D4289873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561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per location / month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66A57-5393-4355-8951-B5C28D58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6697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Proposed allowance: 100 claim packs</a:t>
            </a:r>
          </a:p>
          <a:p xmlns:a="http://schemas.openxmlformats.org/drawingml/2006/main">
            <a:pPr>
              <a:defRPr sz="2175">
                <a:solidFill>
                  <a:srgbClr val="203A3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203A30"/>
                </a:solidFill>
                <a:latin typeface="Arial"/>
                <a:ea typeface="Arial"/>
                <a:cs typeface="Arial"/>
              </a:rPr>
              <a:t>with a defined request budget.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03D6A-15D4-4546-A561-F6A1FF80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10025"/>
            <a:ext cx="4857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A small guided trial first.</a:t>
            </a:r>
          </a:p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Measure inference and support costs</a:t>
            </a:r>
          </a:p>
          <a:p xmlns:a="http://schemas.openxmlformats.org/drawingml/2006/main">
            <a:pPr>
              <a:defRPr sz="2100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63766C"/>
                </a:solidFill>
                <a:latin typeface="Arial"/>
                <a:ea typeface="Arial"/>
                <a:cs typeface="Arial"/>
              </a:rPr>
              <a:t>before expanding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700EF-8D2C-4D5B-9E6A-67E08E03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Pricing hypothesis. Evorozen advertises the first 50 calls free, a finite launch allowance.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BE23F-8A59-40E5-BD02-A6B33A76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63766C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3766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417367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4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A32AB-EA4D-425A-AA9B-D993C67D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382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025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5025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Seeking five</a:t>
            </a:r>
          </a:p>
          <a:p xmlns:a="http://schemas.openxmlformats.org/drawingml/2006/main">
            <a:pPr>
              <a:defRPr sz="5025">
                <a:solidFill>
                  <a:srgbClr val="F7F8F5"/>
                </a:solidFill>
                <a:latin typeface="Georgia"/>
                <a:ea typeface="Georgia"/>
                <a:cs typeface="Georgia"/>
              </a:defRPr>
            </a:pPr>
            <a:r>
              <a:rPr sz="5025">
                <a:solidFill>
                  <a:srgbClr val="F7F8F5"/>
                </a:solidFill>
                <a:latin typeface="Georgia"/>
                <a:ea typeface="Georgia"/>
                <a:cs typeface="Georgia"/>
              </a:rPr>
              <a:t>design partners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B0A46-8FA1-4BCA-B126-C6EC69E2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25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D9EBDF"/>
                </a:solidFill>
                <a:latin typeface="Arial"/>
                <a:ea typeface="Arial"/>
                <a:cs typeface="Arial"/>
              </a:rPr>
              <a:t>Independent operators and hospitality bookkeepers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0EBB9-5CAD-4C0C-8674-A8033C9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33825"/>
            <a:ext cx="10096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Observe a recent case.</a:t>
            </a:r>
          </a:p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Measure review time and corrections.</a:t>
            </a:r>
          </a:p>
          <a:p xmlns:a="http://schemas.openxmlformats.org/drawingml/2006/main">
            <a:pPr>
              <a:defRPr sz="2325">
                <a:solidFill>
                  <a:srgbClr val="F7F8F5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F7F8F5"/>
                </a:solidFill>
                <a:latin typeface="Arial"/>
                <a:ea typeface="Arial"/>
                <a:cs typeface="Arial"/>
              </a:rPr>
              <a:t>Ask for a concrete paid commitment.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D2273-D1AA-44F7-8AB0-207D5B47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388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Pre-launch plan / github.com/shi1720/evorozen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9B436-26D3-46A7-9BA1-003F69BA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>
                <a:solidFill>
                  <a:srgbClr val="D9EBD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D9EBD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62050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2026-09-23T04:20:20.9630000Z</dcterms:created>
  <dcterms:modified xsi:type="dcterms:W3CDTF">2026-09-23T04:20:20.9630000Z</dcterms:modified>
</coreProperties>
</file>