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bfeb2c6512c4928" /><Relationship Type="http://schemas.openxmlformats.org/officeDocument/2006/relationships/extended-properties" Target="/docProps/app.xml" Id="Rcbdd2b92b2bc4e1c" /><Relationship Type="http://schemas.openxmlformats.org/officeDocument/2006/relationships/officeDocument" Target="/ppt/presentation.xml" Id="Raff9f912dba64f8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dce5656c5124ac9"/>
  </p:sldMasterIdLst>
  <p:notesMasterIdLst>
    <p:notesMasterId xmlns:r="http://schemas.openxmlformats.org/officeDocument/2006/relationships" r:id="R7c7731b47cef461e"/>
  </p:notesMasterIdLst>
  <p:sldIdLst>
    <p:sldId xmlns:r="http://schemas.openxmlformats.org/officeDocument/2006/relationships" id="256" r:id="R47d0171aaba34f40"/>
    <p:sldId xmlns:r="http://schemas.openxmlformats.org/officeDocument/2006/relationships" id="257" r:id="Rd918aefb40d54d62"/>
    <p:sldId xmlns:r="http://schemas.openxmlformats.org/officeDocument/2006/relationships" id="258" r:id="R7a423c2f6c4c49f0"/>
    <p:sldId xmlns:r="http://schemas.openxmlformats.org/officeDocument/2006/relationships" id="259" r:id="R808ac1892b924d8a"/>
    <p:sldId xmlns:r="http://schemas.openxmlformats.org/officeDocument/2006/relationships" id="260" r:id="Rb214609aadec4398"/>
    <p:sldId xmlns:r="http://schemas.openxmlformats.org/officeDocument/2006/relationships" id="261" r:id="Ref828d6a6bd14b9c"/>
    <p:sldId xmlns:r="http://schemas.openxmlformats.org/officeDocument/2006/relationships" id="262" r:id="R3525e44b7dc0454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87e7a3cbc4a4855" /><Relationship Type="http://schemas.openxmlformats.org/officeDocument/2006/relationships/slideMaster" Target="/ppt/slideMasters/slideMaster1.xml" Id="R6dce5656c5124ac9" /><Relationship Type="http://schemas.openxmlformats.org/officeDocument/2006/relationships/notesMaster" Target="/ppt/notesMasters/notesMaster1.xml" Id="R7c7731b47cef461e" /><Relationship Type="http://schemas.openxmlformats.org/officeDocument/2006/relationships/presProps" Target="/ppt/presProps.xml" Id="R67e14b84af0a4677" /><Relationship Type="http://schemas.openxmlformats.org/officeDocument/2006/relationships/tableStyles" Target="/ppt/tableStyles.xml" Id="R6604dc90bafe4253" /><Relationship Type="http://schemas.openxmlformats.org/officeDocument/2006/relationships/slide" Target="/ppt/slides/slide1.xml" Id="R47d0171aaba34f40" /><Relationship Type="http://schemas.openxmlformats.org/officeDocument/2006/relationships/slide" Target="/ppt/slides/slide2.xml" Id="Rd918aefb40d54d62" /><Relationship Type="http://schemas.openxmlformats.org/officeDocument/2006/relationships/slide" Target="/ppt/slides/slide3.xml" Id="R7a423c2f6c4c49f0" /><Relationship Type="http://schemas.openxmlformats.org/officeDocument/2006/relationships/slide" Target="/ppt/slides/slide4.xml" Id="R808ac1892b924d8a" /><Relationship Type="http://schemas.openxmlformats.org/officeDocument/2006/relationships/slide" Target="/ppt/slides/slide5.xml" Id="Rb214609aadec4398" /><Relationship Type="http://schemas.openxmlformats.org/officeDocument/2006/relationships/slide" Target="/ppt/slides/slide6.xml" Id="Ref828d6a6bd14b9c" /><Relationship Type="http://schemas.openxmlformats.org/officeDocument/2006/relationships/slide" Target="/ppt/slides/slide7.xml" Id="R3525e44b7dc0454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a192fef2ae04d4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a3c24def01645cf" /><Relationship Type="http://schemas.openxmlformats.org/officeDocument/2006/relationships/notesMaster" Target="/ppt/notesMasters/notesMaster1.xml" Id="R96816e7a66bf449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273e98a2a7d4ec4" /><Relationship Type="http://schemas.openxmlformats.org/officeDocument/2006/relationships/notesMaster" Target="/ppt/notesMasters/notesMaster1.xml" Id="R994a1fe43c9f4f9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8de7d2072f74101" /><Relationship Type="http://schemas.openxmlformats.org/officeDocument/2006/relationships/notesMaster" Target="/ppt/notesMasters/notesMaster1.xml" Id="R613a63f5d64d415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54ba55385c14574" /><Relationship Type="http://schemas.openxmlformats.org/officeDocument/2006/relationships/notesMaster" Target="/ppt/notesMasters/notesMaster1.xml" Id="Rbd1304772d2142d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384d70a967d4f90" /><Relationship Type="http://schemas.openxmlformats.org/officeDocument/2006/relationships/notesMaster" Target="/ppt/notesMasters/notesMaster1.xml" Id="R6d3e16f27bcb433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afff3b6d6e741f9" /><Relationship Type="http://schemas.openxmlformats.org/officeDocument/2006/relationships/notesMaster" Target="/ppt/notesMasters/notesMaster1.xml" Id="Ra30ab83cc0994e0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275e9f02a534d98" /><Relationship Type="http://schemas.openxmlformats.org/officeDocument/2006/relationships/notesMaster" Target="/ppt/notesMasters/notesMaster1.xml" Id="R5d2fe5a4a9274c6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Created by Shivam Gupta with AI-assisted research, design, and engineering. This deck presents a pre-launch product and commercial plan. Live preview: https://remainder-apex.onrender.com on Render with Neon PostgreSQL. Public source: https://github.com/shi1720/evorozen . Homepage and health endpoint checked September 23. No real customer traction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Workflow hypothesis to validate with design partners. It is not a customer interview quote. Source context: Xero documents applying supplier credits separately from other credit transactions: https://central.xero.com/s/article/Apply-a-supplier-s-credit-to-a-bill . Research and competitor analysis: docs/research.md.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Illustrative data from the reproducible Fern &amp; Flour fixture, not customer results. Northstar invoice NF-1042: 12 oat cases invoiced, 8 received, at $36 gives $144 shortage. 10 tomato cases invoiced, 7 received, at $24 gives $72 shortage. Four olive-oil tins received as invoiced gives zero shortage. Total claim $216. Credit CN-208 references NF-1042 and credits $144 oat drink. Remaining $72. Chart source values: credit-note verified 144 and outstanding 72, USD. Accounting application and cash receipt remain separate, unverified steps.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Architecture: docs/architecture.md. Validation: docs/validation-ai.md. Gemini 3.5 Flash-Lite passed live synthetic USD 216/144/72 and independent GBP 63.55/18.75/44.80 packs on 23 September 2026. This is integration evidence, not an accuracy benchmark or real customer traction. Evorozen chat adapter is implemented; sponsor inference was unavailable during testing. A five-request live check of the production Evorozen memory module verified a signed alias write, HMAC-validated recall, scoped deletion and absent recall afterward. This is optional sponsor memory integration, not sponsor extraction. Public validation artifacts: docs/validation-ai.md. Explicit inference selection for the deployment is Gemini. Application code owns authorization, arithmetic, workflow state, and tenant-specific supplier aliases.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Positioning hypothesis, not a claim of exclusivity or proven superiority. Supply Verify already captures delivery notes, detects shortages and issues credit requests: https://www.supplyverify.ai/en/ . Supy provides hospitality invoice matching and broader procurement workflows: https://supy.io/product-features/invoice-receiving . Canals reconciles statements against ERP records: https://www.canals.ai/products/distributor-statement-reconciiation . Remainder differentiates through focused review and partial-credit follow-through for independent operators; validate with actual users.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Price and allowance are proposed, not verified willingness to pay or implemented subscription billing. Unit-economics sensitivities and exclusions are in docs/go-to-market.md. Evorozen offer reviewed September 23, 2026: https://pulse.evorozen.com/dashboard says first 50 calls free, no card needed. It does not state a recurring monthly allowance. Paid API cost remains unverified. The sponsor adapter can use multiple extraction windows per analysis due to a 2,000-character prompt limit. Each outbound window and fallback consumes a call; do not assume two analyses equal two calls. At the illustrative $0.025/call, 100 packs with two analyses and 10 percent retries cost $5.50 in AI at one window per analysis, or $44 at eight windows, before other costs. See docs/go-to-market.md for assumptions.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Five design partners is a recruitment target, not existing users or commitments. Seven-day launch plan and outreach drafts: docs/go-to-market.md. Creator: Shivam Gupta, with AI-assisted engineering. Repository: https://github.com/shi1720/evorozen . The live preview is deployed on Render with Neon PostgreSQL. No customer outcomes or paid revenue have been established in this deck. Click the app CTA to open https://remainder-apex.onrender.com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46e05db1c341d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eeb7c189f644ed2" /><Relationship Type="http://schemas.openxmlformats.org/officeDocument/2006/relationships/slideLayout" Target="/ppt/slideLayouts/slideLayout1.xml" Id="R4a63f6d4de1b45c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a63f6d4de1b45c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1b81a900c7294e84"/><Relationship Type="http://schemas.openxmlformats.org/officeDocument/2006/relationships/notesSlide" Target="/ppt/notesSlides/notesSlide1.xml" Id="Rcd3293a4158040e8"/><Relationship Id="rIdRemainderLink1" Type="http://schemas.openxmlformats.org/officeDocument/2006/relationships/hyperlink" Target="https://remainder-apex.onrender.com" TargetMode="External"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b224404efb4474" /><Relationship Type="http://schemas.openxmlformats.org/officeDocument/2006/relationships/notesSlide" Target="/ppt/notesSlides/notesSlide2.xml" Id="R09746f1a9da5415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49aaa99def4d37" /><Relationship Type="http://schemas.openxmlformats.org/officeDocument/2006/relationships/chart" Target="/ppt/slides/charts/chart1.xml" Id="R5de3f4773a0b4e0d" /><Relationship Type="http://schemas.openxmlformats.org/officeDocument/2006/relationships/notesSlide" Target="/ppt/notesSlides/notesSlide3.xml" Id="R36e1f138b376474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7d273c92dd46eb" /><Relationship Type="http://schemas.openxmlformats.org/officeDocument/2006/relationships/notesSlide" Target="/ppt/notesSlides/notesSlide4.xml" Id="R0930320059f0489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135aa93e82444c" /><Relationship Type="http://schemas.openxmlformats.org/officeDocument/2006/relationships/notesSlide" Target="/ppt/notesSlides/notesSlide5.xml" Id="Rd2323734d35c4c7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4ebe9ce60745f0" /><Relationship Type="http://schemas.openxmlformats.org/officeDocument/2006/relationships/notesSlide" Target="/ppt/notesSlides/notesSlide6.xml" Id="R7beccb0f3bd5456e" 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acb5f06bab8a4aab"/><Relationship Type="http://schemas.openxmlformats.org/officeDocument/2006/relationships/notesSlide" Target="/ppt/notesSlides/notesSlide7.xml" Id="Rc40943e4384d495e"/><Relationship Id="rIdRemainderLink2" Type="http://schemas.openxmlformats.org/officeDocument/2006/relationships/hyperlink" Target="https://remainder-apex.onrender.com" TargetMode="External"/><Relationship Id="rIdRemainderLink3" Type="http://schemas.openxmlformats.org/officeDocument/2006/relationships/hyperlink" Target="https://github.com/shi1720/evorozen" TargetMode="External"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stacked"/>
        <c:varyColors val="0"/>
        <c:ser>
          <c:idx val="0"/>
          <c:order val="0"/>
          <c:tx>
            <c:v>Credit note verified</c:v>
          </c:tx>
          <c:spPr>
            <a:solidFill xmlns:a="http://schemas.openxmlformats.org/drawingml/2006/main">
              <a:srgbClr val="194D3B"/>
            </a:solidFill>
          </c:spPr>
          <c:cat>
            <c:strRef>
              <c:f>'Chart Data'!$A$2:$A$2</c:f>
              <c:strCache>
                <c:ptCount val="1"/>
                <c:pt idx="0">
                  <c:v>NF-1042</c:v>
                </c:pt>
              </c:strCache>
            </c:strRef>
          </c:cat>
          <c:val>
            <c:numRef>
              <c:f>'Chart Data'!$B$2:$B$2</c:f>
              <c:numCache>
                <c:formatCode>$0</c:formatCode>
                <c:ptCount val="1"/>
                <c:pt idx="0">
                  <c:v>144</c:v>
                </c:pt>
              </c:numCache>
            </c:numRef>
          </c:val>
        </c:ser>
        <c:ser>
          <c:idx val="1"/>
          <c:order val="1"/>
          <c:tx>
            <c:v>Still outstanding</c:v>
          </c:tx>
          <c:spPr>
            <a:solidFill xmlns:a="http://schemas.openxmlformats.org/drawingml/2006/main">
              <a:srgbClr val="BA7B42"/>
            </a:solidFill>
          </c:spPr>
          <c:cat>
            <c:strRef>
              <c:f>'Chart Data'!$C$2:$C$2</c:f>
              <c:strCache>
                <c:ptCount val="1"/>
                <c:pt idx="0">
                  <c:v>NF-1042</c:v>
                </c:pt>
              </c:strCache>
            </c:strRef>
          </c:cat>
          <c:val>
            <c:numRef>
              <c:f>'Chart Data'!$D$2:$D$2</c:f>
              <c:numCache>
                <c:formatCode>$0</c:formatCode>
                <c:ptCount val="1"/>
                <c:pt idx="0">
                  <c:v>72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550" b="1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tickLblPos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216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8F5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7F8F5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94D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8CEEA9-E35A-4B6B-8831-146823516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105727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400">
                <a:solidFill>
                  <a:srgbClr val="F7F8F5"/>
                </a:solidFill>
                <a:latin typeface="Georgia"/>
                <a:ea typeface="Georgia"/>
                <a:cs typeface="Georgia"/>
              </a:defRPr>
            </a:pPr>
            <a:r>
              <a:rPr sz="8400">
                <a:solidFill>
                  <a:srgbClr val="F7F8F5"/>
                </a:solidFill>
                <a:latin typeface="Georgia"/>
                <a:ea typeface="Georgia"/>
                <a:cs typeface="Georgia"/>
              </a:rPr>
              <a:t>Remainder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7A6192-7EA6-4482-B25E-3FE343729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67125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>
                <a:solidFill>
                  <a:srgbClr val="D9EBDF"/>
                </a:solidFill>
                <a:latin typeface="Arial"/>
                <a:ea typeface="Arial"/>
                <a:cs typeface="Arial"/>
              </a:defRPr>
            </a:pPr>
            <a:r>
              <a:rPr sz="2700">
                <a:solidFill>
                  <a:srgbClr val="D9EBDF"/>
                </a:solidFill>
                <a:latin typeface="Arial"/>
                <a:ea typeface="Arial"/>
                <a:cs typeface="Arial"/>
              </a:rPr>
              <a:t>A supplier-credit desk for</a:t>
            </a:r>
          </a:p>
          <a:p xmlns:a="http://schemas.openxmlformats.org/drawingml/2006/main">
            <a:pPr>
              <a:defRPr sz="2700">
                <a:solidFill>
                  <a:srgbClr val="D9EBDF"/>
                </a:solidFill>
                <a:latin typeface="Arial"/>
                <a:ea typeface="Arial"/>
                <a:cs typeface="Arial"/>
              </a:defRPr>
            </a:pPr>
            <a:r>
              <a:rPr sz="2700">
                <a:solidFill>
                  <a:srgbClr val="D9EBDF"/>
                </a:solidFill>
                <a:latin typeface="Arial"/>
                <a:ea typeface="Arial"/>
                <a:cs typeface="Arial"/>
              </a:rPr>
              <a:t>independent food businesses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8C7D7A-D8DE-429A-9831-5A1CC443458F}"/>
              </a:ext>
            </a:extLst>
            <ns0:hlinkClick xmlns:ns0="http://schemas.openxmlformats.org/drawingml/2006/main" xmlns:ns1="http://schemas.openxmlformats.org/officeDocument/2006/relationships" ns1:id="rIdRemainderLin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388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D9EBDF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D9EBDF"/>
                </a:solidFill>
                <a:latin typeface="Arial"/>
                <a:ea typeface="Arial"/>
                <a:cs typeface="Arial"/>
              </a:rPr>
              <a:t>Shivam Gupta / remainder-apex.onrender.com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F82C7F-2008-410F-A8AA-D7395BF22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38875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>
                <a:solidFill>
                  <a:srgbClr val="D9EBDF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D9EBD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093918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A947D7-C50B-4CFC-95D5-3D1473C97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14375"/>
            <a:ext cx="10668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200">
                <a:solidFill>
                  <a:srgbClr val="203A30"/>
                </a:solidFill>
                <a:latin typeface="Georgia"/>
                <a:ea typeface="Georgia"/>
                <a:cs typeface="Georgia"/>
              </a:defRPr>
            </a:pPr>
            <a:r>
              <a:rPr sz="4200">
                <a:solidFill>
                  <a:srgbClr val="203A30"/>
                </a:solidFill>
                <a:latin typeface="Georgia"/>
                <a:ea typeface="Georgia"/>
                <a:cs typeface="Georgia"/>
              </a:rPr>
              <a:t>The supplier-credit gap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318614-DE0A-4C14-85F9-1481D78EA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43125"/>
            <a:ext cx="10572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700">
                <a:solidFill>
                  <a:srgbClr val="194D3B"/>
                </a:solidFill>
                <a:latin typeface="Georgia"/>
                <a:ea typeface="Georgia"/>
                <a:cs typeface="Georgia"/>
              </a:defRPr>
            </a:pPr>
            <a:r>
              <a:rPr sz="5700">
                <a:solidFill>
                  <a:srgbClr val="194D3B"/>
                </a:solidFill>
                <a:latin typeface="Georgia"/>
                <a:ea typeface="Georgia"/>
                <a:cs typeface="Georgia"/>
              </a:rPr>
              <a:t>“We’ll credit you.”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717E1B-AB34-4486-B217-A477F7190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62375"/>
            <a:ext cx="509587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203A3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203A30"/>
                </a:solidFill>
                <a:latin typeface="Arial"/>
                <a:ea typeface="Arial"/>
                <a:cs typeface="Arial"/>
              </a:rPr>
              <a:t>The invoice records the charge.</a:t>
            </a:r>
          </a:p>
          <a:p xmlns:a="http://schemas.openxmlformats.org/drawingml/2006/main">
            <a:pPr>
              <a:defRPr sz="2100">
                <a:solidFill>
                  <a:srgbClr val="203A3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203A30"/>
                </a:solidFill>
                <a:latin typeface="Arial"/>
                <a:ea typeface="Arial"/>
                <a:cs typeface="Arial"/>
              </a:rPr>
              <a:t>The delivery note records the shortage.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AD0B73-11BC-47A8-B490-585C79AAF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762375"/>
            <a:ext cx="476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203A3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203A30"/>
                </a:solidFill>
                <a:latin typeface="Arial"/>
                <a:ea typeface="Arial"/>
                <a:cs typeface="Arial"/>
              </a:rPr>
              <a:t>The credit arrives later.</a:t>
            </a:r>
          </a:p>
          <a:p xmlns:a="http://schemas.openxmlformats.org/drawingml/2006/main">
            <a:pPr>
              <a:defRPr sz="2100">
                <a:solidFill>
                  <a:srgbClr val="203A3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203A30"/>
                </a:solidFill>
                <a:latin typeface="Arial"/>
                <a:ea typeface="Arial"/>
                <a:cs typeface="Arial"/>
              </a:rPr>
              <a:t>Someone still has to check the remainder.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022EC7-2D36-4312-B72F-C2D3E9B7A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0067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63766C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63766C"/>
                </a:solidFill>
                <a:latin typeface="Arial"/>
                <a:ea typeface="Arial"/>
                <a:cs typeface="Arial"/>
              </a:rPr>
              <a:t>A focused job for the owner or bookkeeper of an independent cafe.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9F9C4D-2E4F-4BBB-8F05-CFE3B4E38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388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3766C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63766C"/>
                </a:solidFill>
                <a:latin typeface="Arial"/>
                <a:ea typeface="Arial"/>
                <a:cs typeface="Arial"/>
              </a:rPr>
              <a:t>Remainder / Shivam Gupta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F60D2F-CA0A-42E8-A025-E1D3CE4A1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38875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>
                <a:solidFill>
                  <a:srgbClr val="63766C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63766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2805286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FA9509-960D-466F-A3BC-8AA693991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14375"/>
            <a:ext cx="10668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200">
                <a:solidFill>
                  <a:srgbClr val="203A30"/>
                </a:solidFill>
                <a:latin typeface="Georgia"/>
                <a:ea typeface="Georgia"/>
                <a:cs typeface="Georgia"/>
              </a:defRPr>
            </a:pPr>
            <a:r>
              <a:rPr sz="4200">
                <a:solidFill>
                  <a:srgbClr val="203A30"/>
                </a:solidFill>
                <a:latin typeface="Georgia"/>
                <a:ea typeface="Georgia"/>
                <a:cs typeface="Georgia"/>
              </a:rPr>
              <a:t>A $72 remainder stays visible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EC485F-3C92-4169-BFD1-66538B859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504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300">
                <a:solidFill>
                  <a:srgbClr val="194D3B"/>
                </a:solidFill>
                <a:latin typeface="Georgia"/>
                <a:ea typeface="Georgia"/>
                <a:cs typeface="Georgia"/>
              </a:defRPr>
            </a:pPr>
            <a:r>
              <a:rPr sz="6300">
                <a:solidFill>
                  <a:srgbClr val="194D3B"/>
                </a:solidFill>
                <a:latin typeface="Georgia"/>
                <a:ea typeface="Georgia"/>
                <a:cs typeface="Georgia"/>
              </a:rPr>
              <a:t>$216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6435E8-5AB2-4D38-B5EC-34D4D1E66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38475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203A3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203A30"/>
                </a:solidFill>
                <a:latin typeface="Arial"/>
                <a:ea typeface="Arial"/>
                <a:cs typeface="Arial"/>
              </a:rPr>
              <a:t>reviewed shortage claim</a:t>
            </a:r>
          </a:p>
        </p:txBody>
      </p:sp>
      <p:graphicFrame>
        <p:nvGraphicFramePr>
          <p:cNvPr id="12" name="Chart"/>
          <p:cNvGraphicFramePr/>
          <p:nvPr/>
        </p:nvGraphicFramePr>
        <p:xfrm>
          <a:off xmlns:a="http://schemas.openxmlformats.org/drawingml/2006/main" x="762000" y="3714750"/>
          <a:ext xmlns:a="http://schemas.openxmlformats.org/drawingml/2006/main" cx="10668000" cy="1143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de3f4773a0b4e0d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8DF6C1-A37A-4084-903B-2EB72C8FC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10150"/>
            <a:ext cx="6905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94D3B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94D3B"/>
                </a:solidFill>
                <a:latin typeface="Arial"/>
                <a:ea typeface="Arial"/>
                <a:cs typeface="Arial"/>
              </a:rPr>
              <a:t>$144 credit note verified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0A9D3F-F9B6-4E85-84ED-E18EE88D4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342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BA7B42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BA7B42"/>
                </a:solidFill>
                <a:latin typeface="Arial"/>
                <a:ea typeface="Arial"/>
                <a:cs typeface="Arial"/>
              </a:rPr>
              <a:t>$72 still outstanding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78A1FB-4D5B-4D88-B6E6-288057F38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388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3766C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63766C"/>
                </a:solidFill>
                <a:latin typeface="Arial"/>
                <a:ea typeface="Arial"/>
                <a:cs typeface="Arial"/>
              </a:rPr>
              <a:t>Fictional USD example. Credit-note evidence does not establish cash received.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A1C700-B618-4402-BB61-2AA39F758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38875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>
                <a:solidFill>
                  <a:srgbClr val="63766C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63766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6795684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A0F9E4-FDB4-432D-BF1F-1978A123B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14375"/>
            <a:ext cx="10668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200">
                <a:solidFill>
                  <a:srgbClr val="203A30"/>
                </a:solidFill>
                <a:latin typeface="Georgia"/>
                <a:ea typeface="Georgia"/>
                <a:cs typeface="Georgia"/>
              </a:defRPr>
            </a:pPr>
            <a:r>
              <a:rPr sz="4200">
                <a:solidFill>
                  <a:srgbClr val="203A30"/>
                </a:solidFill>
                <a:latin typeface="Georgia"/>
                <a:ea typeface="Georgia"/>
                <a:cs typeface="Georgia"/>
              </a:rPr>
              <a:t>Every amount has a source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79D958-94B4-4951-B6F7-16DF3BE4B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24100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94D3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94D3B"/>
                </a:solidFill>
                <a:latin typeface="Arial"/>
                <a:ea typeface="Arial"/>
                <a:cs typeface="Arial"/>
              </a:rPr>
              <a:t>AI interpretation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974435-953D-4198-A7BD-0DC492060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324100"/>
            <a:ext cx="6572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03A30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203A30"/>
                </a:solidFill>
                <a:latin typeface="Arial"/>
                <a:ea typeface="Arial"/>
                <a:cs typeface="Arial"/>
              </a:rPr>
              <a:t>Gemini passed two live synthetic cases.</a:t>
            </a:r>
          </a:p>
          <a:p xmlns:a="http://schemas.openxmlformats.org/drawingml/2006/main">
            <a:pPr>
              <a:defRPr sz="2025">
                <a:solidFill>
                  <a:srgbClr val="203A30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203A30"/>
                </a:solidFill>
                <a:latin typeface="Arial"/>
                <a:ea typeface="Arial"/>
                <a:cs typeface="Arial"/>
              </a:rPr>
              <a:t>AI proposes matching line items.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9FCF57-B2B7-404A-895F-EA5E65CDE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05200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94D3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94D3B"/>
                </a:solidFill>
                <a:latin typeface="Arial"/>
                <a:ea typeface="Arial"/>
                <a:cs typeface="Arial"/>
              </a:rPr>
              <a:t>Human review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3A900B-B586-44EE-B217-17B3E3BFC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505200"/>
            <a:ext cx="6572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03A30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203A30"/>
                </a:solidFill>
                <a:latin typeface="Arial"/>
                <a:ea typeface="Arial"/>
                <a:cs typeface="Arial"/>
              </a:rPr>
              <a:t>The owner checks source quotations.</a:t>
            </a:r>
          </a:p>
          <a:p xmlns:a="http://schemas.openxmlformats.org/drawingml/2006/main">
            <a:pPr>
              <a:defRPr sz="2025">
                <a:solidFill>
                  <a:srgbClr val="203A30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203A30"/>
                </a:solidFill>
                <a:latin typeface="Arial"/>
                <a:ea typeface="Arial"/>
                <a:cs typeface="Arial"/>
              </a:rPr>
              <a:t>Signed Evorozen aliases aid later cases.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35C615-2B44-4B9A-A800-90829E22E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94D3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94D3B"/>
                </a:solidFill>
                <a:latin typeface="Arial"/>
                <a:ea typeface="Arial"/>
                <a:cs typeface="Arial"/>
              </a:rPr>
              <a:t>Deterministic checks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B0C0CB-C42B-4D5B-B061-F73D2080D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686300"/>
            <a:ext cx="6572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03A30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203A30"/>
                </a:solidFill>
                <a:latin typeface="Arial"/>
                <a:ea typeface="Arial"/>
                <a:cs typeface="Arial"/>
              </a:rPr>
              <a:t>Integer-cent arithmetic and duplicate controls</a:t>
            </a:r>
          </a:p>
          <a:p xmlns:a="http://schemas.openxmlformats.org/drawingml/2006/main">
            <a:pPr>
              <a:defRPr sz="2025">
                <a:solidFill>
                  <a:srgbClr val="203A30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203A30"/>
                </a:solidFill>
                <a:latin typeface="Arial"/>
                <a:ea typeface="Arial"/>
                <a:cs typeface="Arial"/>
              </a:rPr>
              <a:t>keep the credit balance consistent.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6CFA19-E8E1-4C24-8ACA-1D60A7A3C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388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3766C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63766C"/>
                </a:solidFill>
                <a:latin typeface="Arial"/>
                <a:ea typeface="Arial"/>
                <a:cs typeface="Arial"/>
              </a:rPr>
              <a:t>Gemini extraction + signed Evorozen memory verified. Sample footage uses replay.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52B965-DD48-44B6-A823-A5A6DD8E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38875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>
                <a:solidFill>
                  <a:srgbClr val="63766C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63766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56304928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D9EBD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9A5D9E-F9B3-4D97-8E15-B69096207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14375"/>
            <a:ext cx="10668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200">
                <a:solidFill>
                  <a:srgbClr val="203A30"/>
                </a:solidFill>
                <a:latin typeface="Georgia"/>
                <a:ea typeface="Georgia"/>
                <a:cs typeface="Georgia"/>
              </a:defRPr>
            </a:pPr>
            <a:r>
              <a:rPr sz="4200">
                <a:solidFill>
                  <a:srgbClr val="203A30"/>
                </a:solidFill>
                <a:latin typeface="Georgia"/>
                <a:ea typeface="Georgia"/>
                <a:cs typeface="Georgia"/>
              </a:rPr>
              <a:t>A small desk beside the bookkeeper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0D2088-2476-4B42-BCFA-273B49E27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47900"/>
            <a:ext cx="105251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>
                <a:solidFill>
                  <a:srgbClr val="194D3B"/>
                </a:solidFill>
                <a:latin typeface="Georgia"/>
                <a:ea typeface="Georgia"/>
                <a:cs typeface="Georgia"/>
              </a:defRPr>
            </a:pPr>
            <a:r>
              <a:rPr sz="3000">
                <a:solidFill>
                  <a:srgbClr val="194D3B"/>
                </a:solidFill>
                <a:latin typeface="Georgia"/>
                <a:ea typeface="Georgia"/>
                <a:cs typeface="Georgia"/>
              </a:rPr>
              <a:t>Independent cafes, restaurants,</a:t>
            </a:r>
          </a:p>
          <a:p xmlns:a="http://schemas.openxmlformats.org/drawingml/2006/main">
            <a:pPr>
              <a:defRPr sz="3000">
                <a:solidFill>
                  <a:srgbClr val="194D3B"/>
                </a:solidFill>
                <a:latin typeface="Georgia"/>
                <a:ea typeface="Georgia"/>
                <a:cs typeface="Georgia"/>
              </a:defRPr>
            </a:pPr>
            <a:r>
              <a:rPr sz="3000">
                <a:solidFill>
                  <a:srgbClr val="194D3B"/>
                </a:solidFill>
                <a:latin typeface="Georgia"/>
                <a:ea typeface="Georgia"/>
                <a:cs typeface="Georgia"/>
              </a:rPr>
              <a:t>and small food retailers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3B84DA-3D2C-4E14-A428-B13A9C22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6715125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203A30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203A30"/>
                </a:solidFill>
                <a:latin typeface="Arial"/>
                <a:ea typeface="Arial"/>
                <a:cs typeface="Arial"/>
              </a:rPr>
              <a:t>A case begins with existing documents.</a:t>
            </a:r>
          </a:p>
          <a:p xmlns:a="http://schemas.openxmlformats.org/drawingml/2006/main">
            <a:pPr>
              <a:defRPr sz="2175">
                <a:solidFill>
                  <a:srgbClr val="203A30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203A30"/>
                </a:solidFill>
                <a:latin typeface="Arial"/>
                <a:ea typeface="Arial"/>
                <a:cs typeface="Arial"/>
              </a:rPr>
              <a:t>It ends with a reviewed claim, credit evidence,</a:t>
            </a:r>
          </a:p>
          <a:p xmlns:a="http://schemas.openxmlformats.org/drawingml/2006/main">
            <a:pPr>
              <a:defRPr sz="2175">
                <a:solidFill>
                  <a:srgbClr val="203A30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203A30"/>
                </a:solidFill>
                <a:latin typeface="Arial"/>
                <a:ea typeface="Arial"/>
                <a:cs typeface="Arial"/>
              </a:rPr>
              <a:t>and a record of what remains open.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AF7571-FB9E-4F40-AA4C-56E7F020C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676650"/>
            <a:ext cx="2571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94D3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94D3B"/>
                </a:solidFill>
                <a:latin typeface="Arial"/>
                <a:ea typeface="Arial"/>
                <a:cs typeface="Arial"/>
              </a:rPr>
              <a:t>No ERP connection</a:t>
            </a:r>
          </a:p>
          <a:p xmlns:a="http://schemas.openxmlformats.org/drawingml/2006/main">
            <a:pPr>
              <a:defRPr sz="2100" b="1">
                <a:solidFill>
                  <a:srgbClr val="194D3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94D3B"/>
                </a:solidFill>
                <a:latin typeface="Arial"/>
                <a:ea typeface="Arial"/>
                <a:cs typeface="Arial"/>
              </a:rPr>
              <a:t>required for the</a:t>
            </a:r>
          </a:p>
          <a:p xmlns:a="http://schemas.openxmlformats.org/drawingml/2006/main">
            <a:pPr>
              <a:defRPr sz="2100" b="1">
                <a:solidFill>
                  <a:srgbClr val="194D3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94D3B"/>
                </a:solidFill>
                <a:latin typeface="Arial"/>
                <a:ea typeface="Arial"/>
                <a:cs typeface="Arial"/>
              </a:rPr>
              <a:t>core workflow.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C07F12-3B1B-48A2-A876-A31347B12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388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3766C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63766C"/>
                </a:solidFill>
                <a:latin typeface="Arial"/>
                <a:ea typeface="Arial"/>
                <a:cs typeface="Arial"/>
              </a:rPr>
              <a:t>Existing alternatives: Supply Verify, Supy, Canals, accounting tools, and spreadsheets.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829E3F-A0E4-41B0-9A5B-A934EE389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38875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>
                <a:solidFill>
                  <a:srgbClr val="63766C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63766C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918570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775A4B-3052-4FCC-8C7C-6D86E5F8A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14375"/>
            <a:ext cx="10668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200">
                <a:solidFill>
                  <a:srgbClr val="203A30"/>
                </a:solidFill>
                <a:latin typeface="Georgia"/>
                <a:ea typeface="Georgia"/>
                <a:cs typeface="Georgia"/>
              </a:defRPr>
            </a:pPr>
            <a:r>
              <a:rPr sz="4200">
                <a:solidFill>
                  <a:srgbClr val="203A30"/>
                </a:solidFill>
                <a:latin typeface="Georgia"/>
                <a:ea typeface="Georgia"/>
                <a:cs typeface="Georgia"/>
              </a:rPr>
              <a:t>A price to test with real operators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D59A5A-7658-421C-B6AF-8FB64240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46672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300">
                <a:solidFill>
                  <a:srgbClr val="194D3B"/>
                </a:solidFill>
                <a:latin typeface="Georgia"/>
                <a:ea typeface="Georgia"/>
                <a:cs typeface="Georgia"/>
              </a:defRPr>
            </a:pPr>
            <a:r>
              <a:rPr sz="9300">
                <a:solidFill>
                  <a:srgbClr val="194D3B"/>
                </a:solidFill>
                <a:latin typeface="Georgia"/>
                <a:ea typeface="Georgia"/>
                <a:cs typeface="Georgia"/>
              </a:rPr>
              <a:t>$29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AF666A-88D5-4F2C-8B1C-52256D441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971925"/>
            <a:ext cx="561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203A30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203A30"/>
                </a:solidFill>
                <a:latin typeface="Arial"/>
                <a:ea typeface="Arial"/>
                <a:cs typeface="Arial"/>
              </a:rPr>
              <a:t>per location / month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60E79F-24D7-49AA-8B60-90CE3B741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66975"/>
            <a:ext cx="4857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203A30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203A30"/>
                </a:solidFill>
                <a:latin typeface="Arial"/>
                <a:ea typeface="Arial"/>
                <a:cs typeface="Arial"/>
              </a:rPr>
              <a:t>Proposed allowance: 100 claim packs</a:t>
            </a:r>
          </a:p>
          <a:p xmlns:a="http://schemas.openxmlformats.org/drawingml/2006/main">
            <a:pPr>
              <a:defRPr sz="2175">
                <a:solidFill>
                  <a:srgbClr val="203A30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203A30"/>
                </a:solidFill>
                <a:latin typeface="Arial"/>
                <a:ea typeface="Arial"/>
                <a:cs typeface="Arial"/>
              </a:rPr>
              <a:t>with a defined request budget.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7C8AC4-6037-4EA9-B6AF-EF1EB5307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010025"/>
            <a:ext cx="4857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63766C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63766C"/>
                </a:solidFill>
                <a:latin typeface="Arial"/>
                <a:ea typeface="Arial"/>
                <a:cs typeface="Arial"/>
              </a:rPr>
              <a:t>A small guided trial first.</a:t>
            </a:r>
          </a:p>
          <a:p xmlns:a="http://schemas.openxmlformats.org/drawingml/2006/main">
            <a:pPr>
              <a:defRPr sz="2100">
                <a:solidFill>
                  <a:srgbClr val="63766C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63766C"/>
                </a:solidFill>
                <a:latin typeface="Arial"/>
                <a:ea typeface="Arial"/>
                <a:cs typeface="Arial"/>
              </a:rPr>
              <a:t>Measure inference and support costs</a:t>
            </a:r>
          </a:p>
          <a:p xmlns:a="http://schemas.openxmlformats.org/drawingml/2006/main">
            <a:pPr>
              <a:defRPr sz="2100">
                <a:solidFill>
                  <a:srgbClr val="63766C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63766C"/>
                </a:solidFill>
                <a:latin typeface="Arial"/>
                <a:ea typeface="Arial"/>
                <a:cs typeface="Arial"/>
              </a:rPr>
              <a:t>before expanding access.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C5934B-87D8-4533-9146-69C544026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388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3766C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63766C"/>
                </a:solidFill>
                <a:latin typeface="Arial"/>
                <a:ea typeface="Arial"/>
                <a:cs typeface="Arial"/>
              </a:rPr>
              <a:t>Pricing hypothesis. Evorozen advertises the first 50 calls free, a finite launch allowance.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B74206-06CB-4E76-9A7E-5750088B0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38875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>
                <a:solidFill>
                  <a:srgbClr val="63766C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63766C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2150895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94D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0E695D-732D-436F-9583-D27AD9F5C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14400"/>
            <a:ext cx="10382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025">
                <a:solidFill>
                  <a:srgbClr val="F7F8F5"/>
                </a:solidFill>
                <a:latin typeface="Georgia"/>
                <a:ea typeface="Georgia"/>
                <a:cs typeface="Georgia"/>
              </a:defRPr>
            </a:pPr>
            <a:r>
              <a:rPr sz="5025">
                <a:solidFill>
                  <a:srgbClr val="F7F8F5"/>
                </a:solidFill>
                <a:latin typeface="Georgia"/>
                <a:ea typeface="Georgia"/>
                <a:cs typeface="Georgia"/>
              </a:rPr>
              <a:t>Seeking five</a:t>
            </a:r>
          </a:p>
          <a:p xmlns:a="http://schemas.openxmlformats.org/drawingml/2006/main">
            <a:pPr>
              <a:defRPr sz="5025">
                <a:solidFill>
                  <a:srgbClr val="F7F8F5"/>
                </a:solidFill>
                <a:latin typeface="Georgia"/>
                <a:ea typeface="Georgia"/>
                <a:cs typeface="Georgia"/>
              </a:defRPr>
            </a:pPr>
            <a:r>
              <a:rPr sz="5025">
                <a:solidFill>
                  <a:srgbClr val="F7F8F5"/>
                </a:solidFill>
                <a:latin typeface="Georgia"/>
                <a:ea typeface="Georgia"/>
                <a:cs typeface="Georgia"/>
              </a:rPr>
              <a:t>design partners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F2DE22-BADF-43DB-A51B-BCFDDCF7F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25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D9EBDF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D9EBDF"/>
                </a:solidFill>
                <a:latin typeface="Arial"/>
                <a:ea typeface="Arial"/>
                <a:cs typeface="Arial"/>
              </a:rPr>
              <a:t>Independent operators and hospitality bookkeepers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4916AC-1C8D-4476-B9F9-E73768B05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33825"/>
            <a:ext cx="100965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F7F8F5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F7F8F5"/>
                </a:solidFill>
                <a:latin typeface="Arial"/>
                <a:ea typeface="Arial"/>
                <a:cs typeface="Arial"/>
              </a:rPr>
              <a:t>Observe a recent case.</a:t>
            </a:r>
          </a:p>
          <a:p xmlns:a="http://schemas.openxmlformats.org/drawingml/2006/main">
            <a:pPr>
              <a:defRPr sz="2325">
                <a:solidFill>
                  <a:srgbClr val="F7F8F5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F7F8F5"/>
                </a:solidFill>
                <a:latin typeface="Arial"/>
                <a:ea typeface="Arial"/>
                <a:cs typeface="Arial"/>
              </a:rPr>
              <a:t>Measure review time and corrections.</a:t>
            </a:r>
          </a:p>
          <a:p xmlns:a="http://schemas.openxmlformats.org/drawingml/2006/main">
            <a:pPr>
              <a:defRPr sz="2325">
                <a:solidFill>
                  <a:srgbClr val="F7F8F5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F7F8F5"/>
                </a:solidFill>
                <a:latin typeface="Arial"/>
                <a:ea typeface="Arial"/>
                <a:cs typeface="Arial"/>
              </a:rPr>
              <a:t>Ask for a concrete paid commitment.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0DF654-BDD0-45A4-8BEE-C1E0DE5367A2}"/>
              </a:ext>
            </a:extLst>
            <ns0:hlinkClick xmlns:ns0="http://schemas.openxmlformats.org/drawingml/2006/main" xmlns:ns1="http://schemas.openxmlformats.org/officeDocument/2006/relationships" ns1:id="rIdRemainderLin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6260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D9EBD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D9EBDF"/>
                </a:solidFill>
                <a:latin typeface="Arial"/>
                <a:ea typeface="Arial"/>
                <a:cs typeface="Arial"/>
              </a:rPr>
              <a:t>remainder-apex.onrender.com 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019A81-EF1E-4E1C-A51F-90A08D9D7A28}"/>
              </a:ext>
            </a:extLst>
            <ns2:hlinkClick xmlns:ns2="http://schemas.openxmlformats.org/drawingml/2006/main" xmlns:ns3="http://schemas.openxmlformats.org/officeDocument/2006/relationships" ns3:id="rIdRemainderLin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388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D9EBDF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D9EBDF"/>
                </a:solidFill>
                <a:latin typeface="Arial"/>
                <a:ea typeface="Arial"/>
                <a:cs typeface="Arial"/>
              </a:rPr>
              <a:t>Public source / github.com/shi1720/evorozen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AB16EA-1205-4F2C-A13F-C5787669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38875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>
                <a:solidFill>
                  <a:srgbClr val="D9EBDF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D9EBD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2733432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2026-09-23T04:32:26.1430000Z</dcterms:created>
  <dcterms:modified xsi:type="dcterms:W3CDTF">2026-09-23T04:32:26.1430000Z</dcterms:modified>
</coreProperties>
</file>